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Lst>
  <p:notesMasterIdLst>
    <p:notesMasterId r:id="rId18"/>
  </p:notesMasterIdLst>
  <p:sldIdLst>
    <p:sldId id="284" r:id="rId2"/>
    <p:sldId id="285" r:id="rId3"/>
    <p:sldId id="286" r:id="rId4"/>
    <p:sldId id="287" r:id="rId5"/>
    <p:sldId id="288" r:id="rId6"/>
    <p:sldId id="289" r:id="rId7"/>
    <p:sldId id="290" r:id="rId8"/>
    <p:sldId id="273" r:id="rId9"/>
    <p:sldId id="274" r:id="rId10"/>
    <p:sldId id="278" r:id="rId11"/>
    <p:sldId id="275" r:id="rId12"/>
    <p:sldId id="279" r:id="rId13"/>
    <p:sldId id="276" r:id="rId14"/>
    <p:sldId id="277" r:id="rId15"/>
    <p:sldId id="280" r:id="rId16"/>
    <p:sldId id="29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C818"/>
    <a:srgbClr val="D37003"/>
    <a:srgbClr val="E2A1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B42431-2A99-47D8-8ABE-0B4AB4C790E2}" v="46" dt="2026-08-18T10:54:14.6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29" autoAdjust="0"/>
    <p:restoredTop sz="61501" autoAdjust="0"/>
  </p:normalViewPr>
  <p:slideViewPr>
    <p:cSldViewPr snapToGrid="0">
      <p:cViewPr varScale="1">
        <p:scale>
          <a:sx n="58" d="100"/>
          <a:sy n="58" d="100"/>
        </p:scale>
        <p:origin x="84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Abiodun" userId="6e77f8217ba0847e" providerId="LiveId" clId="{4118DE43-9D03-4755-B8F2-3A9FE096A105}"/>
    <pc:docChg chg="undo custSel addSld delSld modSld">
      <pc:chgData name="David Abiodun" userId="6e77f8217ba0847e" providerId="LiveId" clId="{4118DE43-9D03-4755-B8F2-3A9FE096A105}" dt="2026-08-13T21:09:16.164" v="251" actId="20577"/>
      <pc:docMkLst>
        <pc:docMk/>
      </pc:docMkLst>
      <pc:sldChg chg="modSp mod modNotesTx">
        <pc:chgData name="David Abiodun" userId="6e77f8217ba0847e" providerId="LiveId" clId="{4118DE43-9D03-4755-B8F2-3A9FE096A105}" dt="2026-08-13T20:43:12.764" v="202" actId="20577"/>
        <pc:sldMkLst>
          <pc:docMk/>
          <pc:sldMk cId="3486528515" sldId="273"/>
        </pc:sldMkLst>
        <pc:spChg chg="mod">
          <ac:chgData name="David Abiodun" userId="6e77f8217ba0847e" providerId="LiveId" clId="{4118DE43-9D03-4755-B8F2-3A9FE096A105}" dt="2026-08-13T18:51:18.418" v="144" actId="14100"/>
          <ac:spMkLst>
            <pc:docMk/>
            <pc:sldMk cId="3486528515" sldId="273"/>
            <ac:spMk id="3" creationId="{B78EABB8-3A3A-76B3-8014-2AF08870FF2E}"/>
          </ac:spMkLst>
        </pc:spChg>
        <pc:spChg chg="mod">
          <ac:chgData name="David Abiodun" userId="6e77f8217ba0847e" providerId="LiveId" clId="{4118DE43-9D03-4755-B8F2-3A9FE096A105}" dt="2026-08-13T19:08:36.601" v="148" actId="20577"/>
          <ac:spMkLst>
            <pc:docMk/>
            <pc:sldMk cId="3486528515" sldId="273"/>
            <ac:spMk id="5" creationId="{FF133478-117B-D611-834A-0CAC5A26746F}"/>
          </ac:spMkLst>
        </pc:spChg>
        <pc:spChg chg="mod">
          <ac:chgData name="David Abiodun" userId="6e77f8217ba0847e" providerId="LiveId" clId="{4118DE43-9D03-4755-B8F2-3A9FE096A105}" dt="2026-08-13T17:43:40.593" v="69" actId="20577"/>
          <ac:spMkLst>
            <pc:docMk/>
            <pc:sldMk cId="3486528515" sldId="273"/>
            <ac:spMk id="9" creationId="{F34A3E2B-5D1A-510F-D396-65EA7F1BA83E}"/>
          </ac:spMkLst>
        </pc:spChg>
      </pc:sldChg>
      <pc:sldChg chg="modSp mod">
        <pc:chgData name="David Abiodun" userId="6e77f8217ba0847e" providerId="LiveId" clId="{4118DE43-9D03-4755-B8F2-3A9FE096A105}" dt="2026-08-13T17:46:59.527" v="108" actId="20577"/>
        <pc:sldMkLst>
          <pc:docMk/>
          <pc:sldMk cId="0" sldId="274"/>
        </pc:sldMkLst>
        <pc:spChg chg="mod">
          <ac:chgData name="David Abiodun" userId="6e77f8217ba0847e" providerId="LiveId" clId="{4118DE43-9D03-4755-B8F2-3A9FE096A105}" dt="2026-08-13T17:44:48.293" v="70"/>
          <ac:spMkLst>
            <pc:docMk/>
            <pc:sldMk cId="0" sldId="274"/>
            <ac:spMk id="9" creationId="{00000000-0000-0000-0000-000000000000}"/>
          </ac:spMkLst>
        </pc:spChg>
        <pc:spChg chg="mod">
          <ac:chgData name="David Abiodun" userId="6e77f8217ba0847e" providerId="LiveId" clId="{4118DE43-9D03-4755-B8F2-3A9FE096A105}" dt="2026-08-13T17:46:42.279" v="102"/>
          <ac:spMkLst>
            <pc:docMk/>
            <pc:sldMk cId="0" sldId="274"/>
            <ac:spMk id="10" creationId="{00000000-0000-0000-0000-000000000000}"/>
          </ac:spMkLst>
        </pc:spChg>
        <pc:spChg chg="mod">
          <ac:chgData name="David Abiodun" userId="6e77f8217ba0847e" providerId="LiveId" clId="{4118DE43-9D03-4755-B8F2-3A9FE096A105}" dt="2026-08-13T17:46:06.438" v="95" actId="20577"/>
          <ac:spMkLst>
            <pc:docMk/>
            <pc:sldMk cId="0" sldId="274"/>
            <ac:spMk id="12" creationId="{00000000-0000-0000-0000-000000000000}"/>
          </ac:spMkLst>
        </pc:spChg>
        <pc:spChg chg="mod">
          <ac:chgData name="David Abiodun" userId="6e77f8217ba0847e" providerId="LiveId" clId="{4118DE43-9D03-4755-B8F2-3A9FE096A105}" dt="2026-08-13T17:45:03.276" v="71"/>
          <ac:spMkLst>
            <pc:docMk/>
            <pc:sldMk cId="0" sldId="274"/>
            <ac:spMk id="14" creationId="{00000000-0000-0000-0000-000000000000}"/>
          </ac:spMkLst>
        </pc:spChg>
        <pc:spChg chg="mod">
          <ac:chgData name="David Abiodun" userId="6e77f8217ba0847e" providerId="LiveId" clId="{4118DE43-9D03-4755-B8F2-3A9FE096A105}" dt="2026-08-13T17:46:59.527" v="108" actId="20577"/>
          <ac:spMkLst>
            <pc:docMk/>
            <pc:sldMk cId="0" sldId="274"/>
            <ac:spMk id="15" creationId="{00000000-0000-0000-0000-000000000000}"/>
          </ac:spMkLst>
        </pc:spChg>
        <pc:spChg chg="mod">
          <ac:chgData name="David Abiodun" userId="6e77f8217ba0847e" providerId="LiveId" clId="{4118DE43-9D03-4755-B8F2-3A9FE096A105}" dt="2026-08-13T17:45:31.888" v="89" actId="20577"/>
          <ac:spMkLst>
            <pc:docMk/>
            <pc:sldMk cId="0" sldId="274"/>
            <ac:spMk id="16" creationId="{00000000-0000-0000-0000-000000000000}"/>
          </ac:spMkLst>
        </pc:spChg>
        <pc:spChg chg="mod">
          <ac:chgData name="David Abiodun" userId="6e77f8217ba0847e" providerId="LiveId" clId="{4118DE43-9D03-4755-B8F2-3A9FE096A105}" dt="2026-08-13T17:46:25.771" v="101" actId="20577"/>
          <ac:spMkLst>
            <pc:docMk/>
            <pc:sldMk cId="0" sldId="274"/>
            <ac:spMk id="17" creationId="{00000000-0000-0000-0000-000000000000}"/>
          </ac:spMkLst>
        </pc:spChg>
        <pc:spChg chg="mod">
          <ac:chgData name="David Abiodun" userId="6e77f8217ba0847e" providerId="LiveId" clId="{4118DE43-9D03-4755-B8F2-3A9FE096A105}" dt="2026-08-13T17:45:14.788" v="72"/>
          <ac:spMkLst>
            <pc:docMk/>
            <pc:sldMk cId="0" sldId="274"/>
            <ac:spMk id="19" creationId="{00000000-0000-0000-0000-000000000000}"/>
          </ac:spMkLst>
        </pc:spChg>
        <pc:spChg chg="mod">
          <ac:chgData name="David Abiodun" userId="6e77f8217ba0847e" providerId="LiveId" clId="{4118DE43-9D03-4755-B8F2-3A9FE096A105}" dt="2026-08-13T17:46:49.011" v="103"/>
          <ac:spMkLst>
            <pc:docMk/>
            <pc:sldMk cId="0" sldId="274"/>
            <ac:spMk id="20" creationId="{00000000-0000-0000-0000-000000000000}"/>
          </ac:spMkLst>
        </pc:spChg>
        <pc:spChg chg="mod">
          <ac:chgData name="David Abiodun" userId="6e77f8217ba0847e" providerId="LiveId" clId="{4118DE43-9D03-4755-B8F2-3A9FE096A105}" dt="2026-08-13T17:46:15.739" v="96"/>
          <ac:spMkLst>
            <pc:docMk/>
            <pc:sldMk cId="0" sldId="274"/>
            <ac:spMk id="22" creationId="{00000000-0000-0000-0000-000000000000}"/>
          </ac:spMkLst>
        </pc:spChg>
      </pc:sldChg>
      <pc:sldChg chg="delSp modSp mod">
        <pc:chgData name="David Abiodun" userId="6e77f8217ba0847e" providerId="LiveId" clId="{4118DE43-9D03-4755-B8F2-3A9FE096A105}" dt="2026-08-13T18:37:54.008" v="140" actId="1076"/>
        <pc:sldMkLst>
          <pc:docMk/>
          <pc:sldMk cId="0" sldId="277"/>
        </pc:sldMkLst>
        <pc:spChg chg="mod">
          <ac:chgData name="David Abiodun" userId="6e77f8217ba0847e" providerId="LiveId" clId="{4118DE43-9D03-4755-B8F2-3A9FE096A105}" dt="2026-08-13T18:37:37.424" v="139" actId="1076"/>
          <ac:spMkLst>
            <pc:docMk/>
            <pc:sldMk cId="0" sldId="277"/>
            <ac:spMk id="5" creationId="{00000000-0000-0000-0000-000000000000}"/>
          </ac:spMkLst>
        </pc:spChg>
        <pc:spChg chg="mod">
          <ac:chgData name="David Abiodun" userId="6e77f8217ba0847e" providerId="LiveId" clId="{4118DE43-9D03-4755-B8F2-3A9FE096A105}" dt="2026-08-13T18:37:37.424" v="139" actId="1076"/>
          <ac:spMkLst>
            <pc:docMk/>
            <pc:sldMk cId="0" sldId="277"/>
            <ac:spMk id="6" creationId="{00000000-0000-0000-0000-000000000000}"/>
          </ac:spMkLst>
        </pc:spChg>
        <pc:spChg chg="mod">
          <ac:chgData name="David Abiodun" userId="6e77f8217ba0847e" providerId="LiveId" clId="{4118DE43-9D03-4755-B8F2-3A9FE096A105}" dt="2026-08-13T18:37:37.424" v="139" actId="1076"/>
          <ac:spMkLst>
            <pc:docMk/>
            <pc:sldMk cId="0" sldId="277"/>
            <ac:spMk id="7" creationId="{00000000-0000-0000-0000-000000000000}"/>
          </ac:spMkLst>
        </pc:spChg>
        <pc:spChg chg="mod">
          <ac:chgData name="David Abiodun" userId="6e77f8217ba0847e" providerId="LiveId" clId="{4118DE43-9D03-4755-B8F2-3A9FE096A105}" dt="2026-08-13T18:37:37.424" v="139" actId="1076"/>
          <ac:spMkLst>
            <pc:docMk/>
            <pc:sldMk cId="0" sldId="277"/>
            <ac:spMk id="8" creationId="{00000000-0000-0000-0000-000000000000}"/>
          </ac:spMkLst>
        </pc:spChg>
        <pc:spChg chg="mod">
          <ac:chgData name="David Abiodun" userId="6e77f8217ba0847e" providerId="LiveId" clId="{4118DE43-9D03-4755-B8F2-3A9FE096A105}" dt="2026-08-13T18:37:37.424" v="139" actId="1076"/>
          <ac:spMkLst>
            <pc:docMk/>
            <pc:sldMk cId="0" sldId="277"/>
            <ac:spMk id="9" creationId="{00000000-0000-0000-0000-000000000000}"/>
          </ac:spMkLst>
        </pc:spChg>
        <pc:spChg chg="mod">
          <ac:chgData name="David Abiodun" userId="6e77f8217ba0847e" providerId="LiveId" clId="{4118DE43-9D03-4755-B8F2-3A9FE096A105}" dt="2026-08-13T18:37:54.008" v="140" actId="1076"/>
          <ac:spMkLst>
            <pc:docMk/>
            <pc:sldMk cId="0" sldId="277"/>
            <ac:spMk id="13" creationId="{00000000-0000-0000-0000-000000000000}"/>
          </ac:spMkLst>
        </pc:spChg>
      </pc:sldChg>
      <pc:sldChg chg="addSp modSp new mod">
        <pc:chgData name="David Abiodun" userId="6e77f8217ba0847e" providerId="LiveId" clId="{4118DE43-9D03-4755-B8F2-3A9FE096A105}" dt="2026-08-13T18:51:51.695" v="147" actId="255"/>
        <pc:sldMkLst>
          <pc:docMk/>
          <pc:sldMk cId="3682751911" sldId="280"/>
        </pc:sldMkLst>
        <pc:spChg chg="mod">
          <ac:chgData name="David Abiodun" userId="6e77f8217ba0847e" providerId="LiveId" clId="{4118DE43-9D03-4755-B8F2-3A9FE096A105}" dt="2026-08-13T18:36:12.465" v="128" actId="1076"/>
          <ac:spMkLst>
            <pc:docMk/>
            <pc:sldMk cId="3682751911" sldId="280"/>
            <ac:spMk id="2" creationId="{36DD3D78-5950-9071-6E3E-CF8F3008A021}"/>
          </ac:spMkLst>
        </pc:spChg>
        <pc:spChg chg="add mod">
          <ac:chgData name="David Abiodun" userId="6e77f8217ba0847e" providerId="LiveId" clId="{4118DE43-9D03-4755-B8F2-3A9FE096A105}" dt="2026-08-13T18:51:51.695" v="147" actId="255"/>
          <ac:spMkLst>
            <pc:docMk/>
            <pc:sldMk cId="3682751911" sldId="280"/>
            <ac:spMk id="3" creationId="{DB18832A-D7FC-15BA-4874-926C5DC2C0F6}"/>
          </ac:spMkLst>
        </pc:spChg>
      </pc:sldChg>
      <pc:sldChg chg="addSp delSp modSp add mod">
        <pc:chgData name="David Abiodun" userId="6e77f8217ba0847e" providerId="LiveId" clId="{4118DE43-9D03-4755-B8F2-3A9FE096A105}" dt="2026-08-13T20:11:52.865" v="189" actId="6549"/>
        <pc:sldMkLst>
          <pc:docMk/>
          <pc:sldMk cId="219857419" sldId="284"/>
        </pc:sldMkLst>
        <pc:spChg chg="mod">
          <ac:chgData name="David Abiodun" userId="6e77f8217ba0847e" providerId="LiveId" clId="{4118DE43-9D03-4755-B8F2-3A9FE096A105}" dt="2026-08-13T20:11:52.865" v="189" actId="6549"/>
          <ac:spMkLst>
            <pc:docMk/>
            <pc:sldMk cId="219857419" sldId="284"/>
            <ac:spMk id="3" creationId="{40C6EA0F-E4DD-7162-3424-3B9F41910DE0}"/>
          </ac:spMkLst>
        </pc:spChg>
      </pc:sldChg>
      <pc:sldChg chg="add">
        <pc:chgData name="David Abiodun" userId="6e77f8217ba0847e" providerId="LiveId" clId="{4118DE43-9D03-4755-B8F2-3A9FE096A105}" dt="2026-08-13T20:16:53.921" v="190"/>
        <pc:sldMkLst>
          <pc:docMk/>
          <pc:sldMk cId="2211537102" sldId="285"/>
        </pc:sldMkLst>
      </pc:sldChg>
      <pc:sldChg chg="add">
        <pc:chgData name="David Abiodun" userId="6e77f8217ba0847e" providerId="LiveId" clId="{4118DE43-9D03-4755-B8F2-3A9FE096A105}" dt="2026-08-13T20:16:56.009" v="192"/>
        <pc:sldMkLst>
          <pc:docMk/>
          <pc:sldMk cId="1443119353" sldId="286"/>
        </pc:sldMkLst>
      </pc:sldChg>
      <pc:sldChg chg="add">
        <pc:chgData name="David Abiodun" userId="6e77f8217ba0847e" providerId="LiveId" clId="{4118DE43-9D03-4755-B8F2-3A9FE096A105}" dt="2026-08-13T20:16:58.200" v="194"/>
        <pc:sldMkLst>
          <pc:docMk/>
          <pc:sldMk cId="1895342959" sldId="287"/>
        </pc:sldMkLst>
      </pc:sldChg>
      <pc:sldChg chg="add">
        <pc:chgData name="David Abiodun" userId="6e77f8217ba0847e" providerId="LiveId" clId="{4118DE43-9D03-4755-B8F2-3A9FE096A105}" dt="2026-08-13T20:17:00.091" v="196"/>
        <pc:sldMkLst>
          <pc:docMk/>
          <pc:sldMk cId="1785196905" sldId="288"/>
        </pc:sldMkLst>
      </pc:sldChg>
      <pc:sldChg chg="add">
        <pc:chgData name="David Abiodun" userId="6e77f8217ba0847e" providerId="LiveId" clId="{4118DE43-9D03-4755-B8F2-3A9FE096A105}" dt="2026-08-13T20:17:04.443" v="198"/>
        <pc:sldMkLst>
          <pc:docMk/>
          <pc:sldMk cId="2242849424" sldId="289"/>
        </pc:sldMkLst>
      </pc:sldChg>
      <pc:sldChg chg="add">
        <pc:chgData name="David Abiodun" userId="6e77f8217ba0847e" providerId="LiveId" clId="{4118DE43-9D03-4755-B8F2-3A9FE096A105}" dt="2026-08-13T20:17:06.514" v="200"/>
        <pc:sldMkLst>
          <pc:docMk/>
          <pc:sldMk cId="4168877962" sldId="290"/>
        </pc:sldMkLst>
      </pc:sldChg>
      <pc:sldChg chg="addSp modSp new mod">
        <pc:chgData name="David Abiodun" userId="6e77f8217ba0847e" providerId="LiveId" clId="{4118DE43-9D03-4755-B8F2-3A9FE096A105}" dt="2026-08-13T21:09:16.164" v="251" actId="20577"/>
        <pc:sldMkLst>
          <pc:docMk/>
          <pc:sldMk cId="2650323359" sldId="291"/>
        </pc:sldMkLst>
        <pc:spChg chg="mod">
          <ac:chgData name="David Abiodun" userId="6e77f8217ba0847e" providerId="LiveId" clId="{4118DE43-9D03-4755-B8F2-3A9FE096A105}" dt="2026-08-13T21:07:56.030" v="224" actId="14100"/>
          <ac:spMkLst>
            <pc:docMk/>
            <pc:sldMk cId="2650323359" sldId="291"/>
            <ac:spMk id="2" creationId="{7F7CD32D-174B-D003-EB8D-1442EAEA3258}"/>
          </ac:spMkLst>
        </pc:spChg>
        <pc:spChg chg="add mod">
          <ac:chgData name="David Abiodun" userId="6e77f8217ba0847e" providerId="LiveId" clId="{4118DE43-9D03-4755-B8F2-3A9FE096A105}" dt="2026-08-13T21:09:16.164" v="251" actId="20577"/>
          <ac:spMkLst>
            <pc:docMk/>
            <pc:sldMk cId="2650323359" sldId="291"/>
            <ac:spMk id="4" creationId="{E9FF2E51-A039-E6BD-AA49-7A3B5E069D9C}"/>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pPr algn="l">
              <a:defRPr sz="1600" b="1"/>
            </a:pPr>
            <a:r>
              <a:rPr lang="en-US" sz="1600" b="1" dirty="0"/>
              <a:t>Final live posture — 11 of 20 controls </a:t>
            </a:r>
          </a:p>
        </c:rich>
      </c:tx>
      <c:overlay val="0"/>
    </c:title>
    <c:autoTitleDeleted val="0"/>
    <c:plotArea>
      <c:layout/>
      <c:barChart>
        <c:barDir val="bar"/>
        <c:grouping val="clustered"/>
        <c:varyColors val="1"/>
        <c:ser>
          <c:idx val="0"/>
          <c:order val="0"/>
          <c:tx>
            <c:strRef>
              <c:f>Controls passing</c:f>
              <c:strCache>
                <c:ptCount val="1"/>
                <c:pt idx="0">
                  <c:v>Controls passing</c:v>
                </c:pt>
              </c:strCache>
            </c:strRef>
          </c:tx>
          <c:invertIfNegative val="1"/>
          <c:dPt>
            <c:idx val="0"/>
            <c:invertIfNegative val="0"/>
            <c:bubble3D val="0"/>
            <c:spPr>
              <a:solidFill>
                <a:srgbClr val="C55A11"/>
              </a:solidFill>
              <a:ln>
                <a:noFill/>
              </a:ln>
            </c:spPr>
            <c:extLst>
              <c:ext xmlns:c16="http://schemas.microsoft.com/office/drawing/2014/chart" uri="{C3380CC4-5D6E-409C-BE32-E72D297353CC}">
                <c16:uniqueId val="{00000001-D400-4ED1-8A64-1B98834207B2}"/>
              </c:ext>
            </c:extLst>
          </c:dPt>
          <c:dPt>
            <c:idx val="1"/>
            <c:invertIfNegative val="0"/>
            <c:bubble3D val="0"/>
            <c:spPr>
              <a:solidFill>
                <a:srgbClr val="1874CD"/>
              </a:solidFill>
              <a:ln>
                <a:noFill/>
              </a:ln>
            </c:spPr>
            <c:extLst>
              <c:ext xmlns:c16="http://schemas.microsoft.com/office/drawing/2014/chart" uri="{C3380CC4-5D6E-409C-BE32-E72D297353CC}">
                <c16:uniqueId val="{00000003-D400-4ED1-8A64-1B98834207B2}"/>
              </c:ext>
            </c:extLst>
          </c:dPt>
          <c:dPt>
            <c:idx val="2"/>
            <c:invertIfNegative val="0"/>
            <c:bubble3D val="0"/>
            <c:spPr>
              <a:solidFill>
                <a:srgbClr val="2E9B4F"/>
              </a:solidFill>
              <a:ln>
                <a:noFill/>
              </a:ln>
            </c:spPr>
            <c:extLst>
              <c:ext xmlns:c16="http://schemas.microsoft.com/office/drawing/2014/chart" uri="{C3380CC4-5D6E-409C-BE32-E72D297353CC}">
                <c16:uniqueId val="{00000005-D400-4ED1-8A64-1B98834207B2}"/>
              </c:ext>
            </c:extLst>
          </c:dPt>
          <c:dLbls>
            <c:spPr>
              <a:noFill/>
              <a:ln>
                <a:noFill/>
              </a:ln>
              <a:effectLst/>
            </c:spPr>
            <c:txPr>
              <a:bodyPr/>
              <a:lstStyle/>
              <a:p>
                <a:pPr>
                  <a:defRPr sz="14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AWS</c:v>
              </c:pt>
              <c:pt idx="1">
                <c:v>Azure</c:v>
              </c:pt>
              <c:pt idx="2">
                <c:v>GCP</c:v>
              </c:pt>
            </c:strLit>
          </c:cat>
          <c:val>
            <c:numLit>
              <c:formatCode>General</c:formatCode>
              <c:ptCount val="3"/>
              <c:pt idx="0">
                <c:v>72</c:v>
              </c:pt>
              <c:pt idx="1">
                <c:v>81</c:v>
              </c:pt>
              <c:pt idx="2">
                <c:v>72</c:v>
              </c:pt>
            </c:numLit>
          </c:val>
          <c:extLst>
            <c:ext xmlns:c16="http://schemas.microsoft.com/office/drawing/2014/chart" uri="{C3380CC4-5D6E-409C-BE32-E72D297353CC}">
              <c16:uniqueId val="{00000006-D400-4ED1-8A64-1B98834207B2}"/>
            </c:ext>
          </c:extLst>
        </c:ser>
        <c:dLbls>
          <c:showLegendKey val="0"/>
          <c:showVal val="0"/>
          <c:showCatName val="0"/>
          <c:showSerName val="0"/>
          <c:showPercent val="0"/>
          <c:showBubbleSize val="0"/>
        </c:dLbls>
        <c:gapWidth val="60"/>
        <c:axId val="111111111"/>
        <c:axId val="222222222"/>
      </c:barChart>
      <c:catAx>
        <c:axId val="111111111"/>
        <c:scaling>
          <c:orientation val="maxMin"/>
        </c:scaling>
        <c:delete val="0"/>
        <c:axPos val="l"/>
        <c:numFmt formatCode="General" sourceLinked="0"/>
        <c:majorTickMark val="none"/>
        <c:minorTickMark val="none"/>
        <c:tickLblPos val="nextTo"/>
        <c:txPr>
          <a:bodyPr/>
          <a:lstStyle/>
          <a:p>
            <a:pPr>
              <a:defRPr sz="1400"/>
            </a:pPr>
            <a:endParaRPr lang="en-US"/>
          </a:p>
        </c:txPr>
        <c:crossAx val="222222222"/>
        <c:crosses val="autoZero"/>
        <c:auto val="1"/>
        <c:lblAlgn val="ctr"/>
        <c:lblOffset val="100"/>
        <c:noMultiLvlLbl val="1"/>
      </c:catAx>
      <c:valAx>
        <c:axId val="222222222"/>
        <c:scaling>
          <c:orientation val="minMax"/>
          <c:max val="100"/>
          <c:min val="0"/>
        </c:scaling>
        <c:delete val="0"/>
        <c:axPos val="t"/>
        <c:numFmt formatCode="General" sourceLinked="1"/>
        <c:majorTickMark val="out"/>
        <c:minorTickMark val="none"/>
        <c:tickLblPos val="nextTo"/>
        <c:txPr>
          <a:bodyPr/>
          <a:lstStyle/>
          <a:p>
            <a:pPr>
              <a:defRPr sz="1400"/>
            </a:pPr>
            <a:endParaRPr lang="en-US"/>
          </a:p>
        </c:txPr>
        <c:crossAx val="111111111"/>
        <c:crosses val="autoZero"/>
        <c:crossBetween val="between"/>
      </c:valAx>
    </c:plotArea>
    <c:legend>
      <c:legendPos val="t"/>
      <c:overlay val="0"/>
      <c:txPr>
        <a:bodyPr/>
        <a:lstStyle/>
        <a:p>
          <a:pPr>
            <a:defRPr sz="1400"/>
          </a:pPr>
          <a:endParaRPr lang="en-US"/>
        </a:p>
      </c:txPr>
    </c:legend>
    <c:plotVisOnly val="1"/>
    <c:dispBlanksAs val="gap"/>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18A4-8E7B-403D-9A38-5FE149849E6C}" type="datetimeFigureOut">
              <a:rPr lang="en-GB" smtClean="0"/>
              <a:t>18/08/2026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4BD745-7878-4955-9EDF-9FE52F985FBD}" type="slidenum">
              <a:rPr lang="en-GB" smtClean="0"/>
              <a:t>‹#›</a:t>
            </a:fld>
            <a:endParaRPr lang="en-GB"/>
          </a:p>
        </p:txBody>
      </p:sp>
    </p:spTree>
    <p:extLst>
      <p:ext uri="{BB962C8B-B14F-4D97-AF65-F5344CB8AC3E}">
        <p14:creationId xmlns:p14="http://schemas.microsoft.com/office/powerpoint/2010/main" val="4076052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Good day. My name is David Abiodun, and this presentation reports the outcome of my MSc Enterprise IT Management dissertation: the Automated Multi-Cloud Compliance Assurance Framework, or AMCAF.</a:t>
            </a:r>
          </a:p>
          <a:p>
            <a:r>
              <a:rPr lang="en-GB" sz="1200" kern="1200" dirty="0">
                <a:solidFill>
                  <a:schemeClr val="tx1"/>
                </a:solidFill>
                <a:effectLst/>
                <a:latin typeface="+mn-lt"/>
                <a:ea typeface="+mn-ea"/>
                <a:cs typeface="+mn-cs"/>
              </a:rPr>
              <a:t>The research asks a single question: how regulatory control objectives can be systematically associated and verified across multiple cloud platforms to improve compliance assurance in financial services.</a:t>
            </a:r>
          </a:p>
          <a:p>
            <a:r>
              <a:rPr lang="en-GB" sz="1200" kern="1200" dirty="0">
                <a:solidFill>
                  <a:schemeClr val="tx1"/>
                </a:solidFill>
                <a:effectLst/>
                <a:latin typeface="+mn-lt"/>
                <a:ea typeface="+mn-ea"/>
                <a:cs typeface="+mn-cs"/>
              </a:rPr>
              <a:t>The prototype and its live evidence are publicly available at the address on this slide.</a:t>
            </a:r>
          </a:p>
          <a:p>
            <a:endParaRPr lang="en-GB" dirty="0"/>
          </a:p>
        </p:txBody>
      </p:sp>
      <p:sp>
        <p:nvSpPr>
          <p:cNvPr id="4" name="Slide Number Placeholder 3"/>
          <p:cNvSpPr>
            <a:spLocks noGrp="1"/>
          </p:cNvSpPr>
          <p:nvPr>
            <p:ph type="sldNum" sz="quarter" idx="5"/>
          </p:nvPr>
        </p:nvSpPr>
        <p:spPr/>
        <p:txBody>
          <a:bodyPr/>
          <a:lstStyle/>
          <a:p>
            <a:fld id="{F54BD745-7878-4955-9EDF-9FE52F985FBD}" type="slidenum">
              <a:rPr lang="en-GB" smtClean="0"/>
              <a:t>1</a:t>
            </a:fld>
            <a:endParaRPr lang="en-GB"/>
          </a:p>
        </p:txBody>
      </p:sp>
    </p:spTree>
    <p:extLst>
      <p:ext uri="{BB962C8B-B14F-4D97-AF65-F5344CB8AC3E}">
        <p14:creationId xmlns:p14="http://schemas.microsoft.com/office/powerpoint/2010/main" val="2256777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Why did I choose this area of research?</a:t>
            </a:r>
          </a:p>
          <a:p>
            <a:r>
              <a:rPr lang="en-GB" sz="1200" kern="1200" dirty="0">
                <a:solidFill>
                  <a:schemeClr val="tx1"/>
                </a:solidFill>
                <a:effectLst/>
                <a:latin typeface="+mn-lt"/>
                <a:ea typeface="+mn-ea"/>
                <a:cs typeface="+mn-cs"/>
              </a:rPr>
              <a:t>I chose this area to investigate as I had noticed a gap between provider-specific tooling and the realities of a real-world IT audit.</a:t>
            </a:r>
          </a:p>
          <a:p>
            <a:r>
              <a:rPr lang="en-GB" sz="1200" kern="1200" dirty="0">
                <a:solidFill>
                  <a:schemeClr val="tx1"/>
                </a:solidFill>
                <a:effectLst/>
                <a:latin typeface="+mn-lt"/>
                <a:ea typeface="+mn-ea"/>
                <a:cs typeface="+mn-cs"/>
              </a:rPr>
              <a:t>Financial institutions adopt multi-cloud architectures for viable reasons: cost optimisation, operational resilience, risk diversification and reduced dependence on a single provider. Opara-Martins, Sahandi, and Tian identified limited interoperability and portability as a major obstacle to cloud adoption in 2016; this directly motivates multi-cloud strategies.</a:t>
            </a:r>
          </a:p>
          <a:p>
            <a:r>
              <a:rPr lang="en-GB" sz="1200" kern="1200" dirty="0">
                <a:solidFill>
                  <a:schemeClr val="tx1"/>
                </a:solidFill>
                <a:effectLst/>
                <a:latin typeface="+mn-lt"/>
                <a:ea typeface="+mn-ea"/>
                <a:cs typeface="+mn-cs"/>
              </a:rPr>
              <a:t>But the same architecture that distributes operational risk also introduces governance complexity. Odion and Addula (2026), and Hope (2023) all observe that operating across several providers does not so much remove risk as redistribute it and may actually increase governance and sovereignty risk.</a:t>
            </a:r>
          </a:p>
          <a:p>
            <a:r>
              <a:rPr lang="en-GB" sz="1200" kern="1200" dirty="0">
                <a:solidFill>
                  <a:schemeClr val="tx1"/>
                </a:solidFill>
                <a:effectLst/>
                <a:latin typeface="+mn-lt"/>
                <a:ea typeface="+mn-ea"/>
                <a:cs typeface="+mn-cs"/>
              </a:rPr>
              <a:t>Chauhan and Shiaeles, in 2023, argue that providers implement and report equivalent security controls differently, which complicates assessment against regulatory requirements.</a:t>
            </a:r>
          </a:p>
          <a:p>
            <a:r>
              <a:rPr lang="en-GB" sz="1200" kern="1200" dirty="0">
                <a:solidFill>
                  <a:schemeClr val="tx1"/>
                </a:solidFill>
                <a:effectLst/>
                <a:latin typeface="+mn-lt"/>
                <a:ea typeface="+mn-ea"/>
                <a:cs typeface="+mn-cs"/>
              </a:rPr>
              <a:t>Multi-cloud spreads operational risk, but without a common governance layer, it also spreads compliance complexity.</a:t>
            </a:r>
          </a:p>
          <a:p>
            <a:endParaRPr lang="en-GB" dirty="0"/>
          </a:p>
        </p:txBody>
      </p:sp>
      <p:sp>
        <p:nvSpPr>
          <p:cNvPr id="4" name="Slide Number Placeholder 3"/>
          <p:cNvSpPr>
            <a:spLocks noGrp="1"/>
          </p:cNvSpPr>
          <p:nvPr>
            <p:ph type="sldNum" sz="quarter" idx="5"/>
          </p:nvPr>
        </p:nvSpPr>
        <p:spPr/>
        <p:txBody>
          <a:bodyPr/>
          <a:lstStyle/>
          <a:p>
            <a:fld id="{F54BD745-7878-4955-9EDF-9FE52F985FBD}" type="slidenum">
              <a:rPr lang="en-GB" smtClean="0"/>
              <a:t>2</a:t>
            </a:fld>
            <a:endParaRPr lang="en-GB"/>
          </a:p>
        </p:txBody>
      </p:sp>
    </p:spTree>
    <p:extLst>
      <p:ext uri="{BB962C8B-B14F-4D97-AF65-F5344CB8AC3E}">
        <p14:creationId xmlns:p14="http://schemas.microsoft.com/office/powerpoint/2010/main" val="482223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slide states the problem formally.</a:t>
            </a:r>
          </a:p>
          <a:p>
            <a:r>
              <a:rPr lang="en-GB" sz="1200" kern="1200" dirty="0">
                <a:solidFill>
                  <a:schemeClr val="tx1"/>
                </a:solidFill>
                <a:effectLst/>
                <a:latin typeface="+mn-lt"/>
                <a:ea typeface="+mn-ea"/>
                <a:cs typeface="+mn-cs"/>
              </a:rPr>
              <a:t>Regulatory obligations — DORA, the FCA handbook, UK GDPR, MAS Technology Risk Management, ISO 27001 — are expressed at the organisational level. Cloud controls, by contrast, are implemented at the provider level, through materially different technical mechanisms.</a:t>
            </a:r>
          </a:p>
          <a:p>
            <a:r>
              <a:rPr lang="en-GB" sz="1200" kern="1200" dirty="0">
                <a:solidFill>
                  <a:schemeClr val="tx1"/>
                </a:solidFill>
                <a:effectLst/>
                <a:latin typeface="+mn-lt"/>
                <a:ea typeface="+mn-ea"/>
                <a:cs typeface="+mn-cs"/>
              </a:rPr>
              <a:t>In 2022, Katari and Ankam find that financial institutions struggle with oversight precisely because providers apply security policies differently, and that tracking audit trails across providers makes compliance harder to demonstrate during external audits. Ismail and Islam identify the absence of any unified mechanism for transparency, evidence collection and provider assessment.</a:t>
            </a:r>
          </a:p>
          <a:p>
            <a:r>
              <a:rPr lang="en-GB" sz="1200" kern="1200" dirty="0">
                <a:solidFill>
                  <a:schemeClr val="tx1"/>
                </a:solidFill>
                <a:effectLst/>
                <a:latin typeface="+mn-lt"/>
                <a:ea typeface="+mn-ea"/>
                <a:cs typeface="+mn-cs"/>
              </a:rPr>
              <a:t>Abdulsalam and Hedabou reach the same conclusion: existing approaches remain fragmented.</a:t>
            </a:r>
          </a:p>
          <a:p>
            <a:r>
              <a:rPr lang="en-GB" sz="1200" kern="1200" dirty="0">
                <a:solidFill>
                  <a:schemeClr val="tx1"/>
                </a:solidFill>
                <a:effectLst/>
                <a:latin typeface="+mn-lt"/>
                <a:ea typeface="+mn-ea"/>
                <a:cs typeface="+mn-cs"/>
              </a:rPr>
              <a:t>An engineer has to visit three separate dashboards, extract three differently structured outputs</a:t>
            </a:r>
          </a:p>
          <a:p>
            <a:r>
              <a:rPr lang="en-GB" sz="1200" kern="1200" dirty="0">
                <a:solidFill>
                  <a:schemeClr val="tx1"/>
                </a:solidFill>
                <a:effectLst/>
                <a:latin typeface="+mn-lt"/>
                <a:ea typeface="+mn-ea"/>
                <a:cs typeface="+mn-cs"/>
              </a:rPr>
              <a:t>and manually reconcile them.</a:t>
            </a:r>
          </a:p>
          <a:p>
            <a:r>
              <a:rPr lang="en-GB" sz="1200" kern="1200" dirty="0">
                <a:solidFill>
                  <a:schemeClr val="tx1"/>
                </a:solidFill>
                <a:effectLst/>
                <a:latin typeface="+mn-lt"/>
                <a:ea typeface="+mn-ea"/>
                <a:cs typeface="+mn-cs"/>
              </a:rPr>
              <a:t>My dissertation characterises this as a structural, rather than incidental, compliance assurance problem.</a:t>
            </a:r>
          </a:p>
          <a:p>
            <a:endParaRPr lang="en-GB" dirty="0"/>
          </a:p>
        </p:txBody>
      </p:sp>
      <p:sp>
        <p:nvSpPr>
          <p:cNvPr id="4" name="Slide Number Placeholder 3"/>
          <p:cNvSpPr>
            <a:spLocks noGrp="1"/>
          </p:cNvSpPr>
          <p:nvPr>
            <p:ph type="sldNum" sz="quarter" idx="5"/>
          </p:nvPr>
        </p:nvSpPr>
        <p:spPr/>
        <p:txBody>
          <a:bodyPr/>
          <a:lstStyle/>
          <a:p>
            <a:fld id="{F54BD745-7878-4955-9EDF-9FE52F985FBD}" type="slidenum">
              <a:rPr lang="en-GB" smtClean="0"/>
              <a:t>3</a:t>
            </a:fld>
            <a:endParaRPr lang="en-GB"/>
          </a:p>
        </p:txBody>
      </p:sp>
    </p:spTree>
    <p:extLst>
      <p:ext uri="{BB962C8B-B14F-4D97-AF65-F5344CB8AC3E}">
        <p14:creationId xmlns:p14="http://schemas.microsoft.com/office/powerpoint/2010/main" val="1192158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aim was to design and evaluate a governance framework, independent of the cloud service provider, that could improve regulatory compliance assurance across multi-cloud infrastructures in financial services.</a:t>
            </a:r>
          </a:p>
          <a:p>
            <a:r>
              <a:rPr lang="en-GB" sz="1200" kern="1200" dirty="0">
                <a:solidFill>
                  <a:schemeClr val="tx1"/>
                </a:solidFill>
                <a:effectLst/>
                <a:latin typeface="+mn-lt"/>
                <a:ea typeface="+mn-ea"/>
                <a:cs typeface="+mn-cs"/>
              </a:rPr>
              <a:t>Five objectives support that aim.</a:t>
            </a:r>
          </a:p>
          <a:p>
            <a:r>
              <a:rPr lang="en-GB" sz="1200" kern="1200" dirty="0">
                <a:solidFill>
                  <a:schemeClr val="tx1"/>
                </a:solidFill>
                <a:effectLst/>
                <a:latin typeface="+mn-lt"/>
                <a:ea typeface="+mn-ea"/>
                <a:cs typeface="+mn-cs"/>
              </a:rPr>
              <a:t>First, to analyse the governance and compliance challenges of multi-cloud adoption.</a:t>
            </a:r>
          </a:p>
          <a:p>
            <a:r>
              <a:rPr lang="en-GB" sz="1200" kern="1200" dirty="0">
                <a:solidFill>
                  <a:schemeClr val="tx1"/>
                </a:solidFill>
                <a:effectLst/>
                <a:latin typeface="+mn-lt"/>
                <a:ea typeface="+mn-ea"/>
                <a:cs typeface="+mn-cs"/>
              </a:rPr>
              <a:t>Second, to translate relevant regulatory requirements into technology-neutral control objectives.</a:t>
            </a:r>
          </a:p>
          <a:p>
            <a:r>
              <a:rPr lang="en-GB" sz="1200" kern="1200" dirty="0">
                <a:solidFill>
                  <a:schemeClr val="tx1"/>
                </a:solidFill>
                <a:effectLst/>
                <a:latin typeface="+mn-lt"/>
                <a:ea typeface="+mn-ea"/>
                <a:cs typeface="+mn-cs"/>
              </a:rPr>
              <a:t>Third, to design a framework that maps those objectives to equivalent technical implementations across AWS, Azure, and Google Cloud Platform.</a:t>
            </a:r>
          </a:p>
          <a:p>
            <a:r>
              <a:rPr lang="en-GB" sz="1200" kern="1200" dirty="0">
                <a:solidFill>
                  <a:schemeClr val="tx1"/>
                </a:solidFill>
                <a:effectLst/>
                <a:latin typeface="+mn-lt"/>
                <a:ea typeface="+mn-ea"/>
                <a:cs typeface="+mn-cs"/>
              </a:rPr>
              <a:t>Fourth, to develop a lightweight prototype that demonstrates automated validation using both synthetic configurations and live, API-based assessments.</a:t>
            </a:r>
          </a:p>
          <a:p>
            <a:r>
              <a:rPr lang="en-GB" sz="1200" kern="1200" dirty="0">
                <a:solidFill>
                  <a:schemeClr val="tx1"/>
                </a:solidFill>
                <a:effectLst/>
                <a:latin typeface="+mn-lt"/>
                <a:ea typeface="+mn-ea"/>
                <a:cs typeface="+mn-cs"/>
              </a:rPr>
              <a:t>And fifth, to evaluate the framework against four criteria — detection accuracy, cross-cloud control-mapping consistency, regulatory traceability, and audit-evidence quality.</a:t>
            </a:r>
          </a:p>
          <a:p>
            <a:endParaRPr lang="en-GB" dirty="0"/>
          </a:p>
        </p:txBody>
      </p:sp>
      <p:sp>
        <p:nvSpPr>
          <p:cNvPr id="4" name="Slide Number Placeholder 3"/>
          <p:cNvSpPr>
            <a:spLocks noGrp="1"/>
          </p:cNvSpPr>
          <p:nvPr>
            <p:ph type="sldNum" sz="quarter" idx="5"/>
          </p:nvPr>
        </p:nvSpPr>
        <p:spPr/>
        <p:txBody>
          <a:bodyPr/>
          <a:lstStyle/>
          <a:p>
            <a:fld id="{F54BD745-7878-4955-9EDF-9FE52F985FBD}" type="slidenum">
              <a:rPr lang="en-GB" smtClean="0"/>
              <a:t>4</a:t>
            </a:fld>
            <a:endParaRPr lang="en-GB"/>
          </a:p>
        </p:txBody>
      </p:sp>
    </p:spTree>
    <p:extLst>
      <p:ext uri="{BB962C8B-B14F-4D97-AF65-F5344CB8AC3E}">
        <p14:creationId xmlns:p14="http://schemas.microsoft.com/office/powerpoint/2010/main" val="1942361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Three methodologies were considered.</a:t>
            </a:r>
          </a:p>
          <a:p>
            <a:r>
              <a:rPr lang="en-GB" sz="1200" kern="1200" dirty="0">
                <a:solidFill>
                  <a:schemeClr val="tx1"/>
                </a:solidFill>
                <a:effectLst/>
                <a:latin typeface="+mn-lt"/>
                <a:ea typeface="+mn-ea"/>
                <a:cs typeface="+mn-cs"/>
              </a:rPr>
              <a:t>A case study approach was rejected because the requirements did not align with the research basis. For instance, it required investigating an existing organisation based on ethics and live data; this was not a good fit. It also focused on understanding rather than creating, which did not address the requirements of my research.</a:t>
            </a:r>
          </a:p>
          <a:p>
            <a:r>
              <a:rPr lang="en-GB" sz="1200" kern="1200" dirty="0">
                <a:solidFill>
                  <a:schemeClr val="tx1"/>
                </a:solidFill>
                <a:effectLst/>
                <a:latin typeface="+mn-lt"/>
                <a:ea typeface="+mn-ea"/>
                <a:cs typeface="+mn-cs"/>
              </a:rPr>
              <a:t>Grounded theory was rejected for a similar reason; it generates theory inductively from qualitative data, and it produces no artefact.</a:t>
            </a:r>
          </a:p>
          <a:p>
            <a:r>
              <a:rPr lang="en-GB" sz="1200" kern="1200" dirty="0">
                <a:solidFill>
                  <a:schemeClr val="tx1"/>
                </a:solidFill>
                <a:effectLst/>
                <a:latin typeface="+mn-lt"/>
                <a:ea typeface="+mn-ea"/>
                <a:cs typeface="+mn-cs"/>
              </a:rPr>
              <a:t>Design Science Research was selected because this study addresses a design problem rather than an explanatory one. Gregor and Zwikael, in 2024, describe Design Science Research as combining academic rigour with practical relevance by creating artefacts that solve real organisational problems while contributing new knowledge to the discipline. That is precisely the shape of this research: a practical problem, a designed artefact, and an evaluation against explicit criteria.</a:t>
            </a:r>
          </a:p>
          <a:p>
            <a:endParaRPr lang="en-GB" dirty="0"/>
          </a:p>
        </p:txBody>
      </p:sp>
      <p:sp>
        <p:nvSpPr>
          <p:cNvPr id="4" name="Slide Number Placeholder 3"/>
          <p:cNvSpPr>
            <a:spLocks noGrp="1"/>
          </p:cNvSpPr>
          <p:nvPr>
            <p:ph type="sldNum" sz="quarter" idx="5"/>
          </p:nvPr>
        </p:nvSpPr>
        <p:spPr/>
        <p:txBody>
          <a:bodyPr/>
          <a:lstStyle/>
          <a:p>
            <a:fld id="{F54BD745-7878-4955-9EDF-9FE52F985FBD}" type="slidenum">
              <a:rPr lang="en-GB" smtClean="0"/>
              <a:t>5</a:t>
            </a:fld>
            <a:endParaRPr lang="en-GB"/>
          </a:p>
        </p:txBody>
      </p:sp>
    </p:spTree>
    <p:extLst>
      <p:ext uri="{BB962C8B-B14F-4D97-AF65-F5344CB8AC3E}">
        <p14:creationId xmlns:p14="http://schemas.microsoft.com/office/powerpoint/2010/main" val="3161969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This diagram shows how Design Science Research was applied in practice.</a:t>
            </a:r>
          </a:p>
          <a:p>
            <a:r>
              <a:rPr lang="en-GB" sz="1200" kern="1200" dirty="0">
                <a:solidFill>
                  <a:schemeClr val="tx1"/>
                </a:solidFill>
                <a:effectLst/>
                <a:latin typeface="+mn-lt"/>
                <a:ea typeface="+mn-ea"/>
                <a:cs typeface="+mn-cs"/>
              </a:rPr>
              <a:t>The objectives map onto Hevner's three-cycle view, from 2007.</a:t>
            </a:r>
          </a:p>
          <a:p>
            <a:r>
              <a:rPr lang="en-GB" sz="1200" kern="1200" dirty="0">
                <a:solidFill>
                  <a:schemeClr val="tx1"/>
                </a:solidFill>
                <a:effectLst/>
                <a:latin typeface="+mn-lt"/>
                <a:ea typeface="+mn-ea"/>
                <a:cs typeface="+mn-cs"/>
              </a:rPr>
              <a:t>Identifying the shortcomings of existing multi-cloud compliance approaches corresponds to the Relevance Cycle, which grounds the work in a practical organisational problem.</a:t>
            </a:r>
          </a:p>
          <a:p>
            <a:r>
              <a:rPr lang="en-GB" sz="1200" kern="1200" dirty="0">
                <a:solidFill>
                  <a:schemeClr val="tx1"/>
                </a:solidFill>
                <a:effectLst/>
                <a:latin typeface="+mn-lt"/>
                <a:ea typeface="+mn-ea"/>
                <a:cs typeface="+mn-cs"/>
              </a:rPr>
              <a:t>Designing the framework and building the Python prototype corresponds to the Design Cycle, in which candidate solutions are refined into a working artefact.</a:t>
            </a:r>
          </a:p>
          <a:p>
            <a:r>
              <a:rPr lang="en-GB" sz="1200" kern="1200" dirty="0">
                <a:solidFill>
                  <a:schemeClr val="tx1"/>
                </a:solidFill>
                <a:effectLst/>
                <a:latin typeface="+mn-lt"/>
                <a:ea typeface="+mn-ea"/>
                <a:cs typeface="+mn-cs"/>
              </a:rPr>
              <a:t>Producing a reusable governance framework that feeds back into practice and the information systems knowledge base aligns with the Rigour Cycle.</a:t>
            </a:r>
          </a:p>
          <a:p>
            <a:r>
              <a:rPr lang="en-GB" sz="1200" kern="1200" dirty="0">
                <a:solidFill>
                  <a:schemeClr val="tx1"/>
                </a:solidFill>
                <a:effectLst/>
                <a:latin typeface="+mn-lt"/>
                <a:ea typeface="+mn-ea"/>
                <a:cs typeface="+mn-cs"/>
              </a:rPr>
              <a:t>The work moved from problem identification through literature review and regulatory abstraction to framework design and prototype development. Through synthetic multi-cloud validation and, later, live multi-cloud validation, with the evaluation drawing on both.</a:t>
            </a:r>
          </a:p>
          <a:p>
            <a:endParaRPr lang="en-GB" dirty="0"/>
          </a:p>
        </p:txBody>
      </p:sp>
      <p:sp>
        <p:nvSpPr>
          <p:cNvPr id="4" name="Slide Number Placeholder 3"/>
          <p:cNvSpPr>
            <a:spLocks noGrp="1"/>
          </p:cNvSpPr>
          <p:nvPr>
            <p:ph type="sldNum" sz="quarter" idx="5"/>
          </p:nvPr>
        </p:nvSpPr>
        <p:spPr/>
        <p:txBody>
          <a:bodyPr/>
          <a:lstStyle/>
          <a:p>
            <a:fld id="{F54BD745-7878-4955-9EDF-9FE52F985FBD}" type="slidenum">
              <a:rPr lang="en-GB" smtClean="0"/>
              <a:t>6</a:t>
            </a:fld>
            <a:endParaRPr lang="en-GB"/>
          </a:p>
        </p:txBody>
      </p:sp>
    </p:spTree>
    <p:extLst>
      <p:ext uri="{BB962C8B-B14F-4D97-AF65-F5344CB8AC3E}">
        <p14:creationId xmlns:p14="http://schemas.microsoft.com/office/powerpoint/2010/main" val="538779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core contribution of this research is the AMCAF architecture, organised into four logical layers.</a:t>
            </a:r>
          </a:p>
          <a:p>
            <a:r>
              <a:rPr lang="en-GB" sz="1200" kern="1200" dirty="0">
                <a:solidFill>
                  <a:schemeClr val="tx1"/>
                </a:solidFill>
                <a:effectLst/>
                <a:latin typeface="+mn-lt"/>
                <a:ea typeface="+mn-ea"/>
                <a:cs typeface="+mn-cs"/>
              </a:rPr>
              <a:t>Layer one is regulatory interpretation. It translates ten regulatory frameworks into twenty provider-neutral control objectives spanning eight governance domains. Only technically observable controls were included. Those verifiable through provider telemetry, API interrogation and configuration analysis. Cinar (2023) notes that DORA, the UK GDPR, and ISO 27001 use different terminology and varying levels of detail, so this abstraction is what makes consistent checking across providers possible.</a:t>
            </a:r>
          </a:p>
          <a:p>
            <a:r>
              <a:rPr lang="en-GB" sz="1200" kern="1200" dirty="0">
                <a:solidFill>
                  <a:schemeClr val="tx1"/>
                </a:solidFill>
                <a:effectLst/>
                <a:latin typeface="+mn-lt"/>
                <a:ea typeface="+mn-ea"/>
                <a:cs typeface="+mn-cs"/>
              </a:rPr>
              <a:t>Layer two is cross-cloud mapping. Each control is mapped to its equivalent implementation in AWS, Microsoft Azure and Google Cloud. The claim here is deliberately cautious: the framework does not assert that provider implementations are identical. It asserts functional equivalence, the same objective, achieved through a provider-appropriate mechanism.</a:t>
            </a:r>
          </a:p>
          <a:p>
            <a:r>
              <a:rPr lang="en-GB" sz="1200" kern="1200" dirty="0">
                <a:solidFill>
                  <a:schemeClr val="tx1"/>
                </a:solidFill>
                <a:effectLst/>
                <a:latin typeface="+mn-lt"/>
                <a:ea typeface="+mn-ea"/>
                <a:cs typeface="+mn-cs"/>
              </a:rPr>
              <a:t>Layer three is validation logic: a deterministic, rule-based engine. Determinism was deliberate. Every compliance decision must be traceable and reproducible, and a probabilistic classifier cannot guarantee that for audit purposes.</a:t>
            </a:r>
          </a:p>
          <a:p>
            <a:r>
              <a:rPr lang="en-GB" sz="1200" kern="1200" dirty="0">
                <a:solidFill>
                  <a:schemeClr val="tx1"/>
                </a:solidFill>
                <a:effectLst/>
                <a:latin typeface="+mn-lt"/>
                <a:ea typeface="+mn-ea"/>
                <a:cs typeface="+mn-cs"/>
              </a:rPr>
              <a:t>Layer four generates audit-ready evidence, governance scores and executive dashboards.</a:t>
            </a:r>
          </a:p>
          <a:p>
            <a:r>
              <a:rPr lang="en-GB" sz="1200" kern="1200" dirty="0">
                <a:solidFill>
                  <a:schemeClr val="tx1"/>
                </a:solidFill>
                <a:effectLst/>
                <a:latin typeface="+mn-lt"/>
                <a:ea typeface="+mn-ea"/>
                <a:cs typeface="+mn-cs"/>
              </a:rPr>
              <a:t>Live governance data is collected from AWS through the boto3 SDK, from Microsoft Entra using Graph API, and from Google Cloud using the Cloud SDK. One architectural point is worth drawing out: data collection and validation logic are kept separate. The control rules evaluate a standard configuration format, whether populated synthetically or from a live API. This enables extending the framework to new data sources without ever requiring rewriting the rules.</a:t>
            </a:r>
          </a:p>
          <a:p>
            <a:endParaRPr lang="en-GB" dirty="0"/>
          </a:p>
        </p:txBody>
      </p:sp>
      <p:sp>
        <p:nvSpPr>
          <p:cNvPr id="4" name="Slide Number Placeholder 3"/>
          <p:cNvSpPr>
            <a:spLocks noGrp="1"/>
          </p:cNvSpPr>
          <p:nvPr>
            <p:ph type="sldNum" sz="quarter" idx="5"/>
          </p:nvPr>
        </p:nvSpPr>
        <p:spPr/>
        <p:txBody>
          <a:bodyPr/>
          <a:lstStyle/>
          <a:p>
            <a:fld id="{F54BD745-7878-4955-9EDF-9FE52F985FBD}" type="slidenum">
              <a:rPr lang="en-GB" smtClean="0"/>
              <a:t>7</a:t>
            </a:fld>
            <a:endParaRPr lang="en-GB"/>
          </a:p>
        </p:txBody>
      </p:sp>
    </p:spTree>
    <p:extLst>
      <p:ext uri="{BB962C8B-B14F-4D97-AF65-F5344CB8AC3E}">
        <p14:creationId xmlns:p14="http://schemas.microsoft.com/office/powerpoint/2010/main" val="360705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AMCAF was evaluated twice over.</a:t>
            </a:r>
          </a:p>
          <a:p>
            <a:r>
              <a:rPr lang="en-GB" sz="1200" kern="1200" dirty="0">
                <a:solidFill>
                  <a:schemeClr val="tx1"/>
                </a:solidFill>
                <a:effectLst/>
                <a:latin typeface="+mn-lt"/>
                <a:ea typeface="+mn-ea"/>
                <a:cs typeface="+mn-cs"/>
              </a:rPr>
              <a:t>First, against eight synthetic configuration scenarios exercising the full twenty-control taxonomy. That produced three hundred and twenty individual compliance checks, two hundred and eighty-two PASS, thirty-eight FAIL. Every one of those thirty-eight corresponded to a deliberately introduced misconfiguration, and no false positives were observed within the controlled datasets.</a:t>
            </a:r>
          </a:p>
          <a:p>
            <a:r>
              <a:rPr lang="en-GB" sz="1200" kern="1200" dirty="0">
                <a:solidFill>
                  <a:schemeClr val="tx1"/>
                </a:solidFill>
                <a:effectLst/>
                <a:latin typeface="+mn-lt"/>
                <a:ea typeface="+mn-ea"/>
                <a:cs typeface="+mn-cs"/>
              </a:rPr>
              <a:t>Second, live, this was against AWS, Microsoft Entra ID and Google Cloud, between the 14th of May and the 7th of June this year. Eleven of the twenty control objectives run directly against provider APIs; the remaining nine were evaluated synthetically. Across seventy recorded runs, the history ledger accumulated seven hundred and nineteen individual checks. Final posture was AWS at 72%, Azure at 81%, and Google Cloud at 72%.</a:t>
            </a:r>
          </a:p>
          <a:p>
            <a:r>
              <a:rPr lang="en-GB" sz="1200" kern="1200" dirty="0">
                <a:solidFill>
                  <a:schemeClr val="tx1"/>
                </a:solidFill>
                <a:effectLst/>
                <a:latin typeface="+mn-lt"/>
                <a:ea typeface="+mn-ea"/>
                <a:cs typeface="+mn-cs"/>
              </a:rPr>
              <a:t>One caveat matters more than the headline numbers. Equal compliance rates do not mean equivalent governance problems. Scenarios three, four and five all return 92.5 per cent, but one spreads failures across encryption and network controls, another is a single logging control failing identically across each provider, and the third clusters in network exposure.</a:t>
            </a:r>
          </a:p>
          <a:p>
            <a:endParaRPr lang="en-GB" dirty="0"/>
          </a:p>
        </p:txBody>
      </p:sp>
      <p:sp>
        <p:nvSpPr>
          <p:cNvPr id="4" name="Slide Number Placeholder 3"/>
          <p:cNvSpPr>
            <a:spLocks noGrp="1"/>
          </p:cNvSpPr>
          <p:nvPr>
            <p:ph type="sldNum" sz="quarter" idx="5"/>
          </p:nvPr>
        </p:nvSpPr>
        <p:spPr/>
        <p:txBody>
          <a:bodyPr/>
          <a:lstStyle/>
          <a:p>
            <a:fld id="{F54BD745-7878-4955-9EDF-9FE52F985FBD}" type="slidenum">
              <a:rPr lang="en-GB" smtClean="0"/>
              <a:t>8</a:t>
            </a:fld>
            <a:endParaRPr lang="en-GB"/>
          </a:p>
        </p:txBody>
      </p:sp>
    </p:spTree>
    <p:extLst>
      <p:ext uri="{BB962C8B-B14F-4D97-AF65-F5344CB8AC3E}">
        <p14:creationId xmlns:p14="http://schemas.microsoft.com/office/powerpoint/2010/main" val="606783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sz="1200" kern="1200" dirty="0">
                <a:solidFill>
                  <a:schemeClr val="tx1"/>
                </a:solidFill>
                <a:effectLst/>
                <a:latin typeface="+mn-lt"/>
                <a:ea typeface="+mn-ea"/>
                <a:cs typeface="+mn-cs"/>
              </a:rPr>
              <a:t>This is the strongest evidence the study produced — and it was not anticipated in the original research design.</a:t>
            </a:r>
          </a:p>
          <a:p>
            <a:r>
              <a:rPr lang="en-GB" sz="1200" kern="1200" dirty="0">
                <a:solidFill>
                  <a:schemeClr val="tx1"/>
                </a:solidFill>
                <a:effectLst/>
                <a:latin typeface="+mn-lt"/>
                <a:ea typeface="+mn-ea"/>
                <a:cs typeface="+mn-cs"/>
              </a:rPr>
              <a:t>During live testing, a network-exposure coverage gap emerged that had been invisible to both static code analysis and synthetic scenario design. The existing control set did not capture sensitive port exposure and legacy authentication exposure. I developed a new control, NET-03, to close it.</a:t>
            </a:r>
          </a:p>
          <a:p>
            <a:r>
              <a:rPr lang="en-GB" sz="1200" kern="1200" dirty="0">
                <a:solidFill>
                  <a:schemeClr val="tx1"/>
                </a:solidFill>
                <a:effectLst/>
                <a:latin typeface="+mn-lt"/>
                <a:ea typeface="+mn-ea"/>
                <a:cs typeface="+mn-cs"/>
              </a:rPr>
              <a:t>The test cycle ran as follows. Port TCP 3306 was exposed, and all three providers returned FAIL simultaneously. The control is implemented quite differently on each platform — port ranges on AWS and Google Cloud, Conditional Access policies on Azure — and yet identical governance logic produced the same verdict on all three.</a:t>
            </a:r>
          </a:p>
          <a:p>
            <a:r>
              <a:rPr lang="en-GB" sz="1200" kern="1200" dirty="0">
                <a:solidFill>
                  <a:schemeClr val="tx1"/>
                </a:solidFill>
                <a:effectLst/>
                <a:latin typeface="+mn-lt"/>
                <a:ea typeface="+mn-ea"/>
                <a:cs typeface="+mn-cs"/>
              </a:rPr>
              <a:t>After remediation, all three returned PASS.</a:t>
            </a:r>
          </a:p>
          <a:p>
            <a:r>
              <a:rPr lang="en-GB" sz="1200" kern="1200" dirty="0">
                <a:solidFill>
                  <a:schemeClr val="tx1"/>
                </a:solidFill>
                <a:effectLst/>
                <a:latin typeface="+mn-lt"/>
                <a:ea typeface="+mn-ea"/>
                <a:cs typeface="+mn-cs"/>
              </a:rPr>
              <a:t>The Google Cloud baseline moved from 60% to 72%. Logs Explorer retains an audit trail of the firewall rule operations, so the procedure is publicly inspectable.</a:t>
            </a:r>
          </a:p>
          <a:p>
            <a:r>
              <a:rPr lang="en-GB" sz="1200" kern="1200" dirty="0">
                <a:solidFill>
                  <a:schemeClr val="tx1"/>
                </a:solidFill>
                <a:effectLst/>
                <a:latin typeface="+mn-lt"/>
                <a:ea typeface="+mn-ea"/>
                <a:cs typeface="+mn-cs"/>
              </a:rPr>
              <a:t>Drift detection behaved as designed: two guest accounts added to the Azure tenant were detected immediately, and posture returned to PASS within minutes of their removal.</a:t>
            </a:r>
          </a:p>
          <a:p>
            <a:r>
              <a:rPr lang="en-GB" sz="1200" kern="1200" dirty="0">
                <a:solidFill>
                  <a:schemeClr val="tx1"/>
                </a:solidFill>
                <a:effectLst/>
                <a:latin typeface="+mn-lt"/>
                <a:ea typeface="+mn-ea"/>
                <a:cs typeface="+mn-cs"/>
              </a:rPr>
              <a:t>But the finding I would most want to draw out is methodological rather than technical. A framework validated solely against synthetic data may carry systematic blind spots. That has implications well beyond this artefact — for how compliance automation research is designed and evaluated generally.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Here is the evidence of NET-03.</a:t>
            </a:r>
          </a:p>
          <a:p>
            <a:r>
              <a:rPr lang="en-GB" sz="1200" kern="1200" dirty="0">
                <a:solidFill>
                  <a:schemeClr val="tx1"/>
                </a:solidFill>
                <a:effectLst/>
                <a:latin typeface="+mn-lt"/>
                <a:ea typeface="+mn-ea"/>
                <a:cs typeface="+mn-cs"/>
              </a:rPr>
              <a:t>This example is the AWS account, amcaf-assessment, which holds an active programmatic credential, last used within the hour.</a:t>
            </a:r>
          </a:p>
          <a:p>
            <a:r>
              <a:rPr lang="en-GB" sz="1200" kern="1200" dirty="0">
                <a:solidFill>
                  <a:schemeClr val="tx1"/>
                </a:solidFill>
                <a:effectLst/>
                <a:latin typeface="+mn-lt"/>
                <a:ea typeface="+mn-ea"/>
                <a:cs typeface="+mn-cs"/>
              </a:rPr>
              <a:t>Below is the example shown of Google's audit log, the test rule amcaf-test-public-mysql. It shows when it is inserted and then deleted, with the principal and a UTC timestamp on every entry.</a:t>
            </a:r>
          </a:p>
          <a:p>
            <a:r>
              <a:rPr lang="en-GB" sz="1200" kern="1200" dirty="0">
                <a:solidFill>
                  <a:schemeClr val="tx1"/>
                </a:solidFill>
                <a:effectLst/>
                <a:latin typeface="+mn-lt"/>
                <a:ea typeface="+mn-ea"/>
                <a:cs typeface="+mn-cs"/>
              </a:rPr>
              <a:t>This was not reconstructed after the fact. All the runs are preserved in the version-controlled history ledger.</a:t>
            </a:r>
          </a:p>
          <a:p>
            <a:endParaRPr lang="en-GB" dirty="0"/>
          </a:p>
        </p:txBody>
      </p:sp>
      <p:sp>
        <p:nvSpPr>
          <p:cNvPr id="4" name="Slide Number Placeholder 3"/>
          <p:cNvSpPr>
            <a:spLocks noGrp="1"/>
          </p:cNvSpPr>
          <p:nvPr>
            <p:ph type="sldNum" sz="quarter" idx="5"/>
          </p:nvPr>
        </p:nvSpPr>
        <p:spPr/>
        <p:txBody>
          <a:bodyPr/>
          <a:lstStyle/>
          <a:p>
            <a:fld id="{F54BD745-7878-4955-9EDF-9FE52F985FBD}" type="slidenum">
              <a:rPr lang="en-GB" smtClean="0"/>
              <a:t>10</a:t>
            </a:fld>
            <a:endParaRPr lang="en-GB"/>
          </a:p>
        </p:txBody>
      </p:sp>
    </p:spTree>
    <p:extLst>
      <p:ext uri="{BB962C8B-B14F-4D97-AF65-F5344CB8AC3E}">
        <p14:creationId xmlns:p14="http://schemas.microsoft.com/office/powerpoint/2010/main" val="3729584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sz="1200" kern="1200" dirty="0">
                <a:solidFill>
                  <a:schemeClr val="tx1"/>
                </a:solidFill>
                <a:effectLst/>
                <a:latin typeface="+mn-lt"/>
                <a:ea typeface="+mn-ea"/>
                <a:cs typeface="+mn-cs"/>
              </a:rPr>
              <a:t>Detection is necessary but not sufficient. What makes a finding governable is traceability.</a:t>
            </a:r>
          </a:p>
          <a:p>
            <a:r>
              <a:rPr lang="en-GB" sz="1200" kern="1200" dirty="0">
                <a:solidFill>
                  <a:schemeClr val="tx1"/>
                </a:solidFill>
                <a:effectLst/>
                <a:latin typeface="+mn-lt"/>
                <a:ea typeface="+mn-ea"/>
                <a:cs typeface="+mn-cs"/>
              </a:rPr>
              <a:t>Every result carries a full chain: the control domain, the technology-neutral control objective, the applicable regulatory provisions, the provider-specific configuration attribute that was evaluated, and a plain-language finding detail. That structure was present in all thirty-eight FAIL findings, all two hundred and eighty-two PASS findings, and every live assessment finding.</a:t>
            </a:r>
          </a:p>
          <a:p>
            <a:r>
              <a:rPr lang="en-GB" sz="1200" kern="1200" dirty="0">
                <a:solidFill>
                  <a:schemeClr val="tx1"/>
                </a:solidFill>
                <a:effectLst/>
                <a:latin typeface="+mn-lt"/>
                <a:ea typeface="+mn-ea"/>
                <a:cs typeface="+mn-cs"/>
              </a:rPr>
              <a:t>The practical value is clearest in a single example. A finding against IAM-02 simultaneously references FCA PS21/3 and NIST Cybersecurity Framework PR.AC-7, ISO 27001 A.9.4, CSSF 22/806 section 3.3, MAS TRM 6.2, PCI DSS version 4.0 Requirement 8, and SOC 2 CC6.1. For an institution reporting to several jurisdictions, a single automated check provides evidence against seven obligations at once.</a:t>
            </a:r>
          </a:p>
          <a:p>
            <a:r>
              <a:rPr lang="en-GB" sz="1200" kern="1200" dirty="0">
                <a:solidFill>
                  <a:schemeClr val="tx1"/>
                </a:solidFill>
                <a:effectLst/>
                <a:latin typeface="+mn-lt"/>
                <a:ea typeface="+mn-ea"/>
                <a:cs typeface="+mn-cs"/>
              </a:rPr>
              <a:t>Eulerich and colleagues find that technology-based audit techniques improve both the efficiency and the effectiveness of audits — widening coverage and surfacing more risks. The dashboard presents this in a form non-technical governance users can act 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Here is another real-life finding.</a:t>
            </a:r>
          </a:p>
          <a:p>
            <a:r>
              <a:rPr lang="en-GB" sz="1200" kern="1200" dirty="0">
                <a:solidFill>
                  <a:schemeClr val="tx1"/>
                </a:solidFill>
                <a:effectLst/>
                <a:latin typeface="+mn-lt"/>
                <a:ea typeface="+mn-ea"/>
                <a:cs typeface="+mn-cs"/>
              </a:rPr>
              <a:t>The baseline with zero guest users in the Entra tenant. I then added 2 guest accounts. AMCAF returned an IAM-03 FAIL and named the count — 2 guest users identified — carrying DORA Article 9, FCA PS21/3, ISO 27001 A.9, NIST CSF PR.AC and UK GDPR Article 32 with it. Posture returned to PASS within minutes of the accounts being removed, which is the drift engine working as designed: successive runs compared, not a single snapshot.</a:t>
            </a:r>
          </a:p>
          <a:p>
            <a:endParaRPr lang="en-GB" dirty="0"/>
          </a:p>
        </p:txBody>
      </p:sp>
      <p:sp>
        <p:nvSpPr>
          <p:cNvPr id="4" name="Slide Number Placeholder 3"/>
          <p:cNvSpPr>
            <a:spLocks noGrp="1"/>
          </p:cNvSpPr>
          <p:nvPr>
            <p:ph type="sldNum" sz="quarter" idx="5"/>
          </p:nvPr>
        </p:nvSpPr>
        <p:spPr/>
        <p:txBody>
          <a:bodyPr/>
          <a:lstStyle/>
          <a:p>
            <a:fld id="{F54BD745-7878-4955-9EDF-9FE52F985FBD}" type="slidenum">
              <a:rPr lang="en-GB" smtClean="0"/>
              <a:t>12</a:t>
            </a:fld>
            <a:endParaRPr lang="en-GB"/>
          </a:p>
        </p:txBody>
      </p:sp>
    </p:spTree>
    <p:extLst>
      <p:ext uri="{BB962C8B-B14F-4D97-AF65-F5344CB8AC3E}">
        <p14:creationId xmlns:p14="http://schemas.microsoft.com/office/powerpoint/2010/main" val="2047169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sz="1200" kern="1200" dirty="0">
                <a:solidFill>
                  <a:schemeClr val="tx1"/>
                </a:solidFill>
                <a:effectLst/>
                <a:latin typeface="+mn-lt"/>
                <a:ea typeface="+mn-ea"/>
                <a:cs typeface="+mn-cs"/>
              </a:rPr>
              <a:t>The primary contribution is a designed and evaluated provider-agnostic compliance assurance framework for multi-cloud financial environments. Prior research has examined cloud governance and provider-specific security but has given limited attention to building an integrated artefact that translates regulatory requirements into provider-agnostic controls. Applying Design Science Research demonstrates that the problem is tractable and delivers a reusable architectural pattern that future research can adopt, extend, or critique, as Tuunanen, Winter, and vom Brocke argue it should.</a:t>
            </a:r>
          </a:p>
          <a:p>
            <a:r>
              <a:rPr lang="en-GB" sz="1200" kern="1200" dirty="0">
                <a:solidFill>
                  <a:schemeClr val="tx1"/>
                </a:solidFill>
                <a:effectLst/>
                <a:latin typeface="+mn-lt"/>
                <a:ea typeface="+mn-ea"/>
                <a:cs typeface="+mn-cs"/>
              </a:rPr>
              <a:t>A secondary contribution is the taxonomy itself. Twenty controls across eight domains, turning ten frameworks into a shared technology-neutral language, useful independently of the prototype.</a:t>
            </a:r>
          </a:p>
          <a:p>
            <a:r>
              <a:rPr lang="en-GB" sz="1200" kern="1200" dirty="0">
                <a:solidFill>
                  <a:schemeClr val="tx1"/>
                </a:solidFill>
                <a:effectLst/>
                <a:latin typeface="+mn-lt"/>
                <a:ea typeface="+mn-ea"/>
                <a:cs typeface="+mn-cs"/>
              </a:rPr>
              <a:t>The third was not anticipated in the research design. The live testing exposed a coverage gap: sensitive database ports such as MySQL, PostgreSQL, and MongoDB, as well as legacy authentication on Azure, were undetected; a separate control was created to detect it.</a:t>
            </a:r>
          </a:p>
          <a:p>
            <a:r>
              <a:rPr lang="en-GB" sz="1200" kern="1200" dirty="0">
                <a:solidFill>
                  <a:schemeClr val="tx1"/>
                </a:solidFill>
                <a:effectLst/>
                <a:latin typeface="+mn-lt"/>
                <a:ea typeface="+mn-ea"/>
                <a:cs typeface="+mn-cs"/>
              </a:rPr>
              <a:t>Now the limitations, and I want to state these plainly rather than defend them.</a:t>
            </a:r>
          </a:p>
          <a:p>
            <a:r>
              <a:rPr lang="en-GB" sz="1200" kern="1200" dirty="0">
                <a:solidFill>
                  <a:schemeClr val="tx1"/>
                </a:solidFill>
                <a:effectLst/>
                <a:latin typeface="+mn-lt"/>
                <a:ea typeface="+mn-ea"/>
                <a:cs typeface="+mn-cs"/>
              </a:rPr>
              <a:t>Live testing ran in personal research environments — an Entra developer tenant, an AWS laboratory account, a GCP research project — not a production estate. Torkura and colleagues show enterprise-scale continuous auditing must accommodate far larger and faster-changing IAM policy sets. The scores I have shown reflect those environments, nothing more.</a:t>
            </a:r>
          </a:p>
          <a:p>
            <a:r>
              <a:rPr lang="en-GB" sz="1200" kern="1200" dirty="0">
                <a:solidFill>
                  <a:schemeClr val="tx1"/>
                </a:solidFill>
                <a:effectLst/>
                <a:latin typeface="+mn-lt"/>
                <a:ea typeface="+mn-ea"/>
                <a:cs typeface="+mn-cs"/>
              </a:rPr>
              <a:t>Second, five organisational controls were evaluated through synthetic configuration objects rather than live processes.</a:t>
            </a:r>
          </a:p>
          <a:p>
            <a:r>
              <a:rPr lang="en-GB" sz="1200" kern="1200" dirty="0">
                <a:solidFill>
                  <a:schemeClr val="tx1"/>
                </a:solidFill>
                <a:effectLst/>
                <a:latin typeface="+mn-lt"/>
                <a:ea typeface="+mn-ea"/>
                <a:cs typeface="+mn-cs"/>
              </a:rPr>
              <a:t>Third, the cross-cloud mapping is static and will degrade as provider services evolve.</a:t>
            </a:r>
          </a:p>
          <a:p>
            <a:r>
              <a:rPr lang="en-GB" sz="1200" kern="1200" dirty="0">
                <a:solidFill>
                  <a:schemeClr val="tx1"/>
                </a:solidFill>
                <a:effectLst/>
                <a:latin typeface="+mn-lt"/>
                <a:ea typeface="+mn-ea"/>
                <a:cs typeface="+mn-cs"/>
              </a:rPr>
              <a:t>And fourth, the regulatory mappings reflect my own interpretation; legal counsel has not validated them.</a:t>
            </a:r>
          </a:p>
          <a:p>
            <a:r>
              <a:rPr lang="en-GB" sz="1200" kern="1200" dirty="0">
                <a:solidFill>
                  <a:schemeClr val="tx1"/>
                </a:solidFill>
                <a:effectLst/>
                <a:latin typeface="+mn-lt"/>
                <a:ea typeface="+mn-ea"/>
                <a:cs typeface="+mn-cs"/>
              </a:rPr>
              <a:t>Johannesson and Perjons draw a useful distinction between artificial evaluation, which demonstrates feasibility, and naturalistic evaluation in real-world settings, which demonstrates operational effectiveness. This study is firmly the former.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sz="1200" kern="1200">
                <a:solidFill>
                  <a:schemeClr val="tx1"/>
                </a:solidFill>
                <a:effectLst/>
                <a:latin typeface="+mn-lt"/>
                <a:ea typeface="+mn-ea"/>
                <a:cs typeface="+mn-cs"/>
              </a:rPr>
              <a:t>To conclude.</a:t>
            </a:r>
          </a:p>
          <a:p>
            <a:r>
              <a:rPr lang="en-GB" sz="1200" kern="1200">
                <a:solidFill>
                  <a:schemeClr val="tx1"/>
                </a:solidFill>
                <a:effectLst/>
                <a:latin typeface="+mn-lt"/>
                <a:ea typeface="+mn-ea"/>
                <a:cs typeface="+mn-cs"/>
              </a:rPr>
              <a:t>The research demonstrates that regulatory control objectives can be consistently associated and verified across cloud platforms through the four-layer approach I have described. That answers the research question.</a:t>
            </a:r>
          </a:p>
          <a:p>
            <a:r>
              <a:rPr lang="en-GB" sz="1200" kern="1200">
                <a:solidFill>
                  <a:schemeClr val="tx1"/>
                </a:solidFill>
                <a:effectLst/>
                <a:latin typeface="+mn-lt"/>
                <a:ea typeface="+mn-ea"/>
                <a:cs typeface="+mn-cs"/>
              </a:rPr>
              <a:t>QUOTE: AMCAF is not a complete solution to multi-cloud compliance governance. In the words of the dissertation, it is “a validated architectural foundation and a demonstrable step towards the unified, provider-agnostic assurance capability that regulated financial services organisations need.”</a:t>
            </a:r>
          </a:p>
          <a:p>
            <a:r>
              <a:rPr lang="en-GB" sz="1200" kern="1200">
                <a:solidFill>
                  <a:schemeClr val="tx1"/>
                </a:solidFill>
                <a:effectLst/>
                <a:latin typeface="+mn-lt"/>
                <a:ea typeface="+mn-ea"/>
                <a:cs typeface="+mn-cs"/>
              </a:rPr>
              <a:t>What remains is broader control coverage, live data at scale, dynamic mapping maintenance, weighted risk scoring, and explainable anomaly detection for controls that depend on behaviour over time.</a:t>
            </a:r>
          </a:p>
          <a:p>
            <a:r>
              <a:rPr lang="en-GB" sz="1200" kern="1200">
                <a:solidFill>
                  <a:schemeClr val="tx1"/>
                </a:solidFill>
                <a:effectLst/>
                <a:latin typeface="+mn-lt"/>
                <a:ea typeface="+mn-ea"/>
                <a:cs typeface="+mn-cs"/>
              </a:rPr>
              <a:t>This research provides the design pattern, the regulatory taxonomy, and the proof of concept on which that work can build.</a:t>
            </a:r>
          </a:p>
          <a:p>
            <a:r>
              <a:rPr lang="en-GB" sz="1200" kern="1200">
                <a:solidFill>
                  <a:schemeClr val="tx1"/>
                </a:solidFill>
                <a:effectLst/>
                <a:latin typeface="+mn-lt"/>
                <a:ea typeface="+mn-ea"/>
                <a:cs typeface="+mn-cs"/>
              </a:rPr>
              <a:t>Thank you. I am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B6A8351-1E69-4AFD-8276-7684C25140B2}"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A5F3AE-0E3E-4757-863B-52F4EC1A1791}" type="slidenum">
              <a:rPr lang="en-GB" smtClean="0"/>
              <a:t>‹#›</a:t>
            </a:fld>
            <a:endParaRPr lang="en-GB"/>
          </a:p>
        </p:txBody>
      </p:sp>
    </p:spTree>
    <p:extLst>
      <p:ext uri="{BB962C8B-B14F-4D97-AF65-F5344CB8AC3E}">
        <p14:creationId xmlns:p14="http://schemas.microsoft.com/office/powerpoint/2010/main" val="3637287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B6A8351-1E69-4AFD-8276-7684C25140B2}"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A5F3AE-0E3E-4757-863B-52F4EC1A1791}" type="slidenum">
              <a:rPr lang="en-GB" smtClean="0"/>
              <a:t>‹#›</a:t>
            </a:fld>
            <a:endParaRPr lang="en-GB"/>
          </a:p>
        </p:txBody>
      </p:sp>
    </p:spTree>
    <p:extLst>
      <p:ext uri="{BB962C8B-B14F-4D97-AF65-F5344CB8AC3E}">
        <p14:creationId xmlns:p14="http://schemas.microsoft.com/office/powerpoint/2010/main" val="3593108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B6A8351-1E69-4AFD-8276-7684C25140B2}"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A5F3AE-0E3E-4757-863B-52F4EC1A1791}" type="slidenum">
              <a:rPr lang="en-GB" smtClean="0"/>
              <a:t>‹#›</a:t>
            </a:fld>
            <a:endParaRPr lang="en-GB"/>
          </a:p>
        </p:txBody>
      </p:sp>
    </p:spTree>
    <p:extLst>
      <p:ext uri="{BB962C8B-B14F-4D97-AF65-F5344CB8AC3E}">
        <p14:creationId xmlns:p14="http://schemas.microsoft.com/office/powerpoint/2010/main" val="1769412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B6A8351-1E69-4AFD-8276-7684C25140B2}" type="datetimeFigureOut">
              <a:rPr lang="en-GB" smtClean="0"/>
              <a:t>18/08/2026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A5F3AE-0E3E-4757-863B-52F4EC1A1791}" type="slidenum">
              <a:rPr lang="en-GB" smtClean="0"/>
              <a:t>‹#›</a:t>
            </a:fld>
            <a:endParaRPr lang="en-GB"/>
          </a:p>
        </p:txBody>
      </p:sp>
    </p:spTree>
    <p:extLst>
      <p:ext uri="{BB962C8B-B14F-4D97-AF65-F5344CB8AC3E}">
        <p14:creationId xmlns:p14="http://schemas.microsoft.com/office/powerpoint/2010/main" val="2491302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B6A8351-1E69-4AFD-8276-7684C25140B2}" type="datetimeFigureOut">
              <a:rPr lang="en-GB" smtClean="0"/>
              <a:t>18/08/2026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EA5F3AE-0E3E-4757-863B-52F4EC1A1791}" type="slidenum">
              <a:rPr lang="en-GB" smtClean="0"/>
              <a:t>‹#›</a:t>
            </a:fld>
            <a:endParaRPr lang="en-GB"/>
          </a:p>
        </p:txBody>
      </p:sp>
    </p:spTree>
    <p:extLst>
      <p:ext uri="{BB962C8B-B14F-4D97-AF65-F5344CB8AC3E}">
        <p14:creationId xmlns:p14="http://schemas.microsoft.com/office/powerpoint/2010/main" val="1567796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B6A8351-1E69-4AFD-8276-7684C25140B2}" type="datetimeFigureOut">
              <a:rPr lang="en-GB" smtClean="0"/>
              <a:t>18/08/2026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EA5F3AE-0E3E-4757-863B-52F4EC1A1791}" type="slidenum">
              <a:rPr lang="en-GB" smtClean="0"/>
              <a:t>‹#›</a:t>
            </a:fld>
            <a:endParaRPr lang="en-GB"/>
          </a:p>
        </p:txBody>
      </p:sp>
    </p:spTree>
    <p:extLst>
      <p:ext uri="{BB962C8B-B14F-4D97-AF65-F5344CB8AC3E}">
        <p14:creationId xmlns:p14="http://schemas.microsoft.com/office/powerpoint/2010/main" val="3654632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6A8351-1E69-4AFD-8276-7684C25140B2}" type="datetimeFigureOut">
              <a:rPr lang="en-GB" smtClean="0"/>
              <a:t>18/08/2026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EA5F3AE-0E3E-4757-863B-52F4EC1A1791}" type="slidenum">
              <a:rPr lang="en-GB" smtClean="0"/>
              <a:t>‹#›</a:t>
            </a:fld>
            <a:endParaRPr lang="en-GB"/>
          </a:p>
        </p:txBody>
      </p:sp>
    </p:spTree>
    <p:extLst>
      <p:ext uri="{BB962C8B-B14F-4D97-AF65-F5344CB8AC3E}">
        <p14:creationId xmlns:p14="http://schemas.microsoft.com/office/powerpoint/2010/main" val="985101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B6A8351-1E69-4AFD-8276-7684C25140B2}" type="datetimeFigureOut">
              <a:rPr lang="en-GB" smtClean="0"/>
              <a:t>18/08/2026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A5F3AE-0E3E-4757-863B-52F4EC1A1791}" type="slidenum">
              <a:rPr lang="en-GB" smtClean="0"/>
              <a:t>‹#›</a:t>
            </a:fld>
            <a:endParaRPr lang="en-GB"/>
          </a:p>
        </p:txBody>
      </p:sp>
    </p:spTree>
    <p:extLst>
      <p:ext uri="{BB962C8B-B14F-4D97-AF65-F5344CB8AC3E}">
        <p14:creationId xmlns:p14="http://schemas.microsoft.com/office/powerpoint/2010/main" val="2038153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B6A8351-1E69-4AFD-8276-7684C25140B2}" type="datetimeFigureOut">
              <a:rPr lang="en-GB" smtClean="0"/>
              <a:t>18/08/2026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A5F3AE-0E3E-4757-863B-52F4EC1A1791}" type="slidenum">
              <a:rPr lang="en-GB" smtClean="0"/>
              <a:t>‹#›</a:t>
            </a:fld>
            <a:endParaRPr lang="en-GB"/>
          </a:p>
        </p:txBody>
      </p:sp>
    </p:spTree>
    <p:extLst>
      <p:ext uri="{BB962C8B-B14F-4D97-AF65-F5344CB8AC3E}">
        <p14:creationId xmlns:p14="http://schemas.microsoft.com/office/powerpoint/2010/main" val="3024900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B6A8351-1E69-4AFD-8276-7684C25140B2}"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A5F3AE-0E3E-4757-863B-52F4EC1A1791}" type="slidenum">
              <a:rPr lang="en-GB" smtClean="0"/>
              <a:t>‹#›</a:t>
            </a:fld>
            <a:endParaRPr lang="en-GB"/>
          </a:p>
        </p:txBody>
      </p:sp>
    </p:spTree>
    <p:extLst>
      <p:ext uri="{BB962C8B-B14F-4D97-AF65-F5344CB8AC3E}">
        <p14:creationId xmlns:p14="http://schemas.microsoft.com/office/powerpoint/2010/main" val="2406545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B6A8351-1E69-4AFD-8276-7684C25140B2}" type="datetimeFigureOut">
              <a:rPr lang="en-GB" smtClean="0"/>
              <a:t>18/08/2026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A5F3AE-0E3E-4757-863B-52F4EC1A1791}" type="slidenum">
              <a:rPr lang="en-GB" smtClean="0"/>
              <a:t>‹#›</a:t>
            </a:fld>
            <a:endParaRPr lang="en-GB"/>
          </a:p>
        </p:txBody>
      </p:sp>
    </p:spTree>
    <p:extLst>
      <p:ext uri="{BB962C8B-B14F-4D97-AF65-F5344CB8AC3E}">
        <p14:creationId xmlns:p14="http://schemas.microsoft.com/office/powerpoint/2010/main" val="2974563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6A8351-1E69-4AFD-8276-7684C25140B2}" type="datetimeFigureOut">
              <a:rPr lang="en-GB" smtClean="0"/>
              <a:t>18/08/2026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A5F3AE-0E3E-4757-863B-52F4EC1A1791}" type="slidenum">
              <a:rPr lang="en-GB" smtClean="0"/>
              <a:t>‹#›</a:t>
            </a:fld>
            <a:endParaRPr lang="en-GB"/>
          </a:p>
        </p:txBody>
      </p:sp>
    </p:spTree>
    <p:extLst>
      <p:ext uri="{BB962C8B-B14F-4D97-AF65-F5344CB8AC3E}">
        <p14:creationId xmlns:p14="http://schemas.microsoft.com/office/powerpoint/2010/main" val="3807182929"/>
      </p:ext>
    </p:extLst>
  </p:cSld>
  <p:clrMap bg1="dk1" tx1="lt1" bg2="dk2" tx2="lt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9.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EFE3C-A654-D3C4-38B2-B639BB798DDB}"/>
              </a:ext>
            </a:extLst>
          </p:cNvPr>
          <p:cNvSpPr>
            <a:spLocks noGrp="1"/>
          </p:cNvSpPr>
          <p:nvPr>
            <p:ph type="ctrTitle"/>
          </p:nvPr>
        </p:nvSpPr>
        <p:spPr>
          <a:xfrm>
            <a:off x="1450848" y="1600200"/>
            <a:ext cx="9144000" cy="1141667"/>
          </a:xfrm>
        </p:spPr>
        <p:txBody>
          <a:bodyPr/>
          <a:lstStyle/>
          <a:p>
            <a:r>
              <a:rPr lang="en-GB" dirty="0"/>
              <a:t>AMCAF</a:t>
            </a:r>
          </a:p>
        </p:txBody>
      </p:sp>
      <p:sp>
        <p:nvSpPr>
          <p:cNvPr id="3" name="Subtitle 2">
            <a:extLst>
              <a:ext uri="{FF2B5EF4-FFF2-40B4-BE49-F238E27FC236}">
                <a16:creationId xmlns:a16="http://schemas.microsoft.com/office/drawing/2014/main" id="{40C6EA0F-E4DD-7162-3424-3B9F41910DE0}"/>
              </a:ext>
            </a:extLst>
          </p:cNvPr>
          <p:cNvSpPr>
            <a:spLocks noGrp="1"/>
          </p:cNvSpPr>
          <p:nvPr>
            <p:ph type="subTitle" idx="1"/>
          </p:nvPr>
        </p:nvSpPr>
        <p:spPr>
          <a:xfrm>
            <a:off x="1524000" y="2879662"/>
            <a:ext cx="9144000" cy="1655762"/>
          </a:xfrm>
        </p:spPr>
        <p:txBody>
          <a:bodyPr>
            <a:normAutofit fontScale="70000" lnSpcReduction="20000"/>
          </a:bodyPr>
          <a:lstStyle/>
          <a:p>
            <a:r>
              <a:rPr lang="en-GB" dirty="0"/>
              <a:t>Automated Multi-Cloud Compliance Assurance Framework</a:t>
            </a:r>
          </a:p>
          <a:p>
            <a:r>
              <a:rPr lang="en-GB" dirty="0"/>
              <a:t>For Financial Services</a:t>
            </a:r>
          </a:p>
          <a:p>
            <a:endParaRPr lang="en-GB" dirty="0"/>
          </a:p>
          <a:p>
            <a:pPr>
              <a:lnSpc>
                <a:spcPct val="100000"/>
              </a:lnSpc>
              <a:spcBef>
                <a:spcPts val="400"/>
              </a:spcBef>
              <a:spcAft>
                <a:spcPts val="0"/>
              </a:spcAft>
            </a:pPr>
            <a:r>
              <a:rPr lang="en-US" sz="2000" dirty="0">
                <a:solidFill>
                  <a:srgbClr val="CADCFC"/>
                </a:solidFill>
                <a:latin typeface="Calibri" pitchFamily="34" charset="0"/>
                <a:ea typeface="Calibri" pitchFamily="34" charset="-122"/>
                <a:cs typeface="Calibri" pitchFamily="34" charset="-120"/>
              </a:rPr>
              <a:t>David Mobolaji Abiodun 12696259  •  MSc Enterprise IT Management  •  August 2026</a:t>
            </a:r>
          </a:p>
          <a:p>
            <a:pPr>
              <a:lnSpc>
                <a:spcPct val="100000"/>
              </a:lnSpc>
              <a:spcBef>
                <a:spcPts val="400"/>
              </a:spcBef>
              <a:spcAft>
                <a:spcPts val="0"/>
              </a:spcAft>
            </a:pPr>
            <a:r>
              <a:rPr lang="en-US" sz="2000" dirty="0">
                <a:solidFill>
                  <a:srgbClr val="CADCFC"/>
                </a:solidFill>
                <a:latin typeface="Calibri" pitchFamily="34" charset="0"/>
                <a:ea typeface="Calibri" pitchFamily="34" charset="-122"/>
                <a:cs typeface="Calibri" pitchFamily="34" charset="-120"/>
              </a:rPr>
              <a:t>Supervisor: Dr Zeeshan Siddiqui  •  Co-Supervisor: Douglas J. Millward</a:t>
            </a:r>
          </a:p>
          <a:p>
            <a:pPr>
              <a:lnSpc>
                <a:spcPct val="100000"/>
              </a:lnSpc>
              <a:spcBef>
                <a:spcPts val="400"/>
              </a:spcBef>
              <a:spcAft>
                <a:spcPts val="0"/>
              </a:spcAft>
            </a:pPr>
            <a:r>
              <a:rPr lang="en-US" sz="2000" dirty="0">
                <a:solidFill>
                  <a:srgbClr val="CADCFC"/>
                </a:solidFill>
                <a:latin typeface="Calibri" pitchFamily="34" charset="0"/>
                <a:ea typeface="Calibri" pitchFamily="34" charset="-122"/>
                <a:cs typeface="Calibri" pitchFamily="34" charset="-120"/>
              </a:rPr>
              <a:t>University of Essex</a:t>
            </a:r>
            <a:endParaRPr lang="en-US" sz="2000" dirty="0"/>
          </a:p>
        </p:txBody>
      </p:sp>
      <p:sp>
        <p:nvSpPr>
          <p:cNvPr id="4" name="TextBox 3">
            <a:extLst>
              <a:ext uri="{FF2B5EF4-FFF2-40B4-BE49-F238E27FC236}">
                <a16:creationId xmlns:a16="http://schemas.microsoft.com/office/drawing/2014/main" id="{B8FE5513-BA46-4DCC-ED10-645C4B66A819}"/>
              </a:ext>
            </a:extLst>
          </p:cNvPr>
          <p:cNvSpPr txBox="1"/>
          <p:nvPr/>
        </p:nvSpPr>
        <p:spPr>
          <a:xfrm>
            <a:off x="5879592" y="987552"/>
            <a:ext cx="184731" cy="369332"/>
          </a:xfrm>
          <a:prstGeom prst="rect">
            <a:avLst/>
          </a:prstGeom>
          <a:noFill/>
        </p:spPr>
        <p:txBody>
          <a:bodyPr wrap="none" rtlCol="0">
            <a:spAutoFit/>
          </a:bodyPr>
          <a:lstStyle/>
          <a:p>
            <a:endParaRPr lang="en-GB" dirty="0"/>
          </a:p>
        </p:txBody>
      </p:sp>
      <p:pic>
        <p:nvPicPr>
          <p:cNvPr id="6" name="Image 0" descr="preencoded.png">
            <a:extLst>
              <a:ext uri="{FF2B5EF4-FFF2-40B4-BE49-F238E27FC236}">
                <a16:creationId xmlns:a16="http://schemas.microsoft.com/office/drawing/2014/main" id="{AE9EE1A7-DFAE-FE55-8EFE-63CE6639637D}"/>
              </a:ext>
            </a:extLst>
          </p:cNvPr>
          <p:cNvPicPr>
            <a:picLocks noChangeAspect="1"/>
          </p:cNvPicPr>
          <p:nvPr/>
        </p:nvPicPr>
        <p:blipFill>
          <a:blip r:embed="rId3"/>
          <a:stretch>
            <a:fillRect/>
          </a:stretch>
        </p:blipFill>
        <p:spPr>
          <a:xfrm>
            <a:off x="5675376" y="987552"/>
            <a:ext cx="694944" cy="694944"/>
          </a:xfrm>
          <a:prstGeom prst="rect">
            <a:avLst/>
          </a:prstGeom>
        </p:spPr>
      </p:pic>
      <p:sp>
        <p:nvSpPr>
          <p:cNvPr id="9" name="TextBox 8">
            <a:extLst>
              <a:ext uri="{FF2B5EF4-FFF2-40B4-BE49-F238E27FC236}">
                <a16:creationId xmlns:a16="http://schemas.microsoft.com/office/drawing/2014/main" id="{020A06F0-4811-FE46-7D3B-13168A7E93B2}"/>
              </a:ext>
            </a:extLst>
          </p:cNvPr>
          <p:cNvSpPr txBox="1"/>
          <p:nvPr/>
        </p:nvSpPr>
        <p:spPr>
          <a:xfrm>
            <a:off x="3842327" y="5440217"/>
            <a:ext cx="4396509" cy="2923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rPr>
              <a:t>Live evidence:  dma-1970.github.io/AMCAF</a:t>
            </a:r>
            <a:endParaRPr kumimoji="0" lang="en-US" sz="13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9857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28E9BD4-A365-D438-1474-5D4C45F9BF39}"/>
              </a:ext>
            </a:extLst>
          </p:cNvPr>
          <p:cNvSpPr txBox="1"/>
          <p:nvPr/>
        </p:nvSpPr>
        <p:spPr>
          <a:xfrm>
            <a:off x="1219200" y="603504"/>
            <a:ext cx="9753600" cy="584775"/>
          </a:xfrm>
          <a:prstGeom prst="rect">
            <a:avLst/>
          </a:prstGeom>
          <a:noFill/>
        </p:spPr>
        <p:txBody>
          <a:bodyPr wrap="square" rtlCol="0">
            <a:spAutoFit/>
          </a:bodyPr>
          <a:lstStyle/>
          <a:p>
            <a:r>
              <a:rPr lang="en-GB" sz="3200" dirty="0">
                <a:latin typeface="+mj-lt"/>
              </a:rPr>
              <a:t>Why did I choose this area of research?</a:t>
            </a:r>
          </a:p>
        </p:txBody>
      </p:sp>
      <p:sp>
        <p:nvSpPr>
          <p:cNvPr id="8" name="Rectangle: Rounded Corners 7">
            <a:extLst>
              <a:ext uri="{FF2B5EF4-FFF2-40B4-BE49-F238E27FC236}">
                <a16:creationId xmlns:a16="http://schemas.microsoft.com/office/drawing/2014/main" id="{25C4F3A0-B755-61A0-51FC-87C1C26B49DB}"/>
              </a:ext>
            </a:extLst>
          </p:cNvPr>
          <p:cNvSpPr/>
          <p:nvPr/>
        </p:nvSpPr>
        <p:spPr>
          <a:xfrm>
            <a:off x="2770632" y="1284705"/>
            <a:ext cx="6647688" cy="902429"/>
          </a:xfrm>
          <a:prstGeom prst="roundRect">
            <a:avLst/>
          </a:prstGeom>
          <a:ln w="19050" cap="flat" cmpd="sng" algn="ctr">
            <a:solidFill>
              <a:srgbClr val="4FCE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main reason companies adopt Multi-Cloud</a:t>
            </a:r>
          </a:p>
        </p:txBody>
      </p:sp>
      <p:sp>
        <p:nvSpPr>
          <p:cNvPr id="16" name="Octagon 15">
            <a:extLst>
              <a:ext uri="{FF2B5EF4-FFF2-40B4-BE49-F238E27FC236}">
                <a16:creationId xmlns:a16="http://schemas.microsoft.com/office/drawing/2014/main" id="{1742BE2C-A241-E077-3C1A-49243E3D0081}"/>
              </a:ext>
            </a:extLst>
          </p:cNvPr>
          <p:cNvSpPr/>
          <p:nvPr/>
        </p:nvSpPr>
        <p:spPr>
          <a:xfrm>
            <a:off x="4330700" y="5130800"/>
            <a:ext cx="3529584" cy="584215"/>
          </a:xfrm>
          <a:prstGeom prst="octagon">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l="50000" t="50000" r="50000" b="50000"/>
            </a:path>
            <a:tileRect/>
          </a:gradFill>
          <a:ln w="19050" cap="flat" cmpd="sng" algn="ctr">
            <a:solidFill>
              <a:srgbClr val="4FCE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t>Governance Complexity</a:t>
            </a:r>
          </a:p>
        </p:txBody>
      </p:sp>
      <p:sp>
        <p:nvSpPr>
          <p:cNvPr id="55" name="Rectangle: Rounded Corners 54">
            <a:extLst>
              <a:ext uri="{FF2B5EF4-FFF2-40B4-BE49-F238E27FC236}">
                <a16:creationId xmlns:a16="http://schemas.microsoft.com/office/drawing/2014/main" id="{07ED96EB-F277-CDC0-7D7D-B84C71FEA41E}"/>
              </a:ext>
            </a:extLst>
          </p:cNvPr>
          <p:cNvSpPr/>
          <p:nvPr/>
        </p:nvSpPr>
        <p:spPr>
          <a:xfrm>
            <a:off x="1358900" y="3365500"/>
            <a:ext cx="1600200" cy="901700"/>
          </a:xfrm>
          <a:prstGeom prst="roundRect">
            <a:avLst/>
          </a:prstGeom>
          <a:solidFill>
            <a:schemeClr val="accent5">
              <a:lumMod val="50000"/>
            </a:schemeClr>
          </a:solidFill>
          <a:ln w="19050" cap="flat" cmpd="sng" algn="ctr">
            <a:solidFill>
              <a:srgbClr val="55A83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Spread Risk</a:t>
            </a:r>
          </a:p>
        </p:txBody>
      </p:sp>
      <p:sp>
        <p:nvSpPr>
          <p:cNvPr id="57" name="Rectangle: Rounded Corners 56">
            <a:extLst>
              <a:ext uri="{FF2B5EF4-FFF2-40B4-BE49-F238E27FC236}">
                <a16:creationId xmlns:a16="http://schemas.microsoft.com/office/drawing/2014/main" id="{40F884D7-879E-3553-988D-FE4498AC65E5}"/>
              </a:ext>
            </a:extLst>
          </p:cNvPr>
          <p:cNvSpPr/>
          <p:nvPr/>
        </p:nvSpPr>
        <p:spPr>
          <a:xfrm>
            <a:off x="3987800" y="3365500"/>
            <a:ext cx="1600200" cy="901700"/>
          </a:xfrm>
          <a:prstGeom prst="roundRect">
            <a:avLst/>
          </a:prstGeom>
          <a:solidFill>
            <a:schemeClr val="accent6">
              <a:lumMod val="50000"/>
            </a:schemeClr>
          </a:solidFill>
          <a:ln w="19050" cap="flat" cmpd="sng" algn="ctr">
            <a:solidFill>
              <a:srgbClr val="8FA83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Operational Resilience</a:t>
            </a:r>
          </a:p>
        </p:txBody>
      </p:sp>
      <p:sp>
        <p:nvSpPr>
          <p:cNvPr id="59" name="Rectangle: Rounded Corners 58">
            <a:extLst>
              <a:ext uri="{FF2B5EF4-FFF2-40B4-BE49-F238E27FC236}">
                <a16:creationId xmlns:a16="http://schemas.microsoft.com/office/drawing/2014/main" id="{968AAB43-DBCD-97D6-618F-6D6E042243F3}"/>
              </a:ext>
            </a:extLst>
          </p:cNvPr>
          <p:cNvSpPr/>
          <p:nvPr/>
        </p:nvSpPr>
        <p:spPr>
          <a:xfrm>
            <a:off x="6616700" y="3365500"/>
            <a:ext cx="1600200" cy="901700"/>
          </a:xfrm>
          <a:prstGeom prst="roundRect">
            <a:avLst/>
          </a:prstGeom>
          <a:solidFill>
            <a:schemeClr val="accent5">
              <a:lumMod val="50000"/>
            </a:schemeClr>
          </a:solidFill>
          <a:ln w="19050" cap="flat" cmpd="sng" algn="ctr">
            <a:solidFill>
              <a:srgbClr val="55A83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Cost Optimisation</a:t>
            </a:r>
          </a:p>
        </p:txBody>
      </p:sp>
      <p:sp>
        <p:nvSpPr>
          <p:cNvPr id="61" name="Rectangle: Rounded Corners 60">
            <a:extLst>
              <a:ext uri="{FF2B5EF4-FFF2-40B4-BE49-F238E27FC236}">
                <a16:creationId xmlns:a16="http://schemas.microsoft.com/office/drawing/2014/main" id="{1041AE0E-FEF0-65A8-3D70-A01C45503228}"/>
              </a:ext>
            </a:extLst>
          </p:cNvPr>
          <p:cNvSpPr/>
          <p:nvPr/>
        </p:nvSpPr>
        <p:spPr>
          <a:xfrm>
            <a:off x="9245600" y="3365500"/>
            <a:ext cx="1600200" cy="901700"/>
          </a:xfrm>
          <a:prstGeom prst="roundRect">
            <a:avLst/>
          </a:prstGeom>
          <a:solidFill>
            <a:srgbClr val="5C6E22"/>
          </a:solidFill>
          <a:ln w="19050" cap="flat" cmpd="sng" algn="ctr">
            <a:solidFill>
              <a:srgbClr val="8FA83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Avoid vendor lock-in</a:t>
            </a:r>
          </a:p>
        </p:txBody>
      </p:sp>
      <p:pic>
        <p:nvPicPr>
          <p:cNvPr id="63" name="Graphic 62" descr="Radioactive outline">
            <a:extLst>
              <a:ext uri="{FF2B5EF4-FFF2-40B4-BE49-F238E27FC236}">
                <a16:creationId xmlns:a16="http://schemas.microsoft.com/office/drawing/2014/main" id="{5EF6AA4A-6915-455C-5789-A8960C88C6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1800" y="2514600"/>
            <a:ext cx="914400" cy="914400"/>
          </a:xfrm>
          <a:prstGeom prst="rect">
            <a:avLst/>
          </a:prstGeom>
        </p:spPr>
      </p:pic>
      <p:pic>
        <p:nvPicPr>
          <p:cNvPr id="65" name="Graphic 64" descr="Gears outline">
            <a:extLst>
              <a:ext uri="{FF2B5EF4-FFF2-40B4-BE49-F238E27FC236}">
                <a16:creationId xmlns:a16="http://schemas.microsoft.com/office/drawing/2014/main" id="{5E5022C3-C32A-3161-03C9-CE1A4ECDC7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0700" y="2514600"/>
            <a:ext cx="914400" cy="914400"/>
          </a:xfrm>
          <a:prstGeom prst="rect">
            <a:avLst/>
          </a:prstGeom>
        </p:spPr>
      </p:pic>
      <p:pic>
        <p:nvPicPr>
          <p:cNvPr id="67" name="Graphic 66" descr="Money outline">
            <a:extLst>
              <a:ext uri="{FF2B5EF4-FFF2-40B4-BE49-F238E27FC236}">
                <a16:creationId xmlns:a16="http://schemas.microsoft.com/office/drawing/2014/main" id="{BB9C7EE7-E7A9-BD16-EC8A-E7CD60C788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59600" y="2514600"/>
            <a:ext cx="914400" cy="914400"/>
          </a:xfrm>
          <a:prstGeom prst="rect">
            <a:avLst/>
          </a:prstGeom>
        </p:spPr>
      </p:pic>
      <p:pic>
        <p:nvPicPr>
          <p:cNvPr id="69" name="Graphic 68" descr="Kiosk outline">
            <a:extLst>
              <a:ext uri="{FF2B5EF4-FFF2-40B4-BE49-F238E27FC236}">
                <a16:creationId xmlns:a16="http://schemas.microsoft.com/office/drawing/2014/main" id="{3C241928-A30F-1AB3-130E-1499D151346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88500" y="2514600"/>
            <a:ext cx="914400" cy="914400"/>
          </a:xfrm>
          <a:prstGeom prst="rect">
            <a:avLst/>
          </a:prstGeom>
        </p:spPr>
      </p:pic>
      <p:pic>
        <p:nvPicPr>
          <p:cNvPr id="71" name="Graphic 70" descr="Clipboard Badge with solid fill">
            <a:extLst>
              <a:ext uri="{FF2B5EF4-FFF2-40B4-BE49-F238E27FC236}">
                <a16:creationId xmlns:a16="http://schemas.microsoft.com/office/drawing/2014/main" id="{006D3B53-A7DE-4B82-B550-BCF4A6A217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08800" y="5194300"/>
            <a:ext cx="424335" cy="468935"/>
          </a:xfrm>
          <a:prstGeom prst="rect">
            <a:avLst/>
          </a:prstGeom>
        </p:spPr>
      </p:pic>
    </p:spTree>
    <p:extLst>
      <p:ext uri="{BB962C8B-B14F-4D97-AF65-F5344CB8AC3E}">
        <p14:creationId xmlns:p14="http://schemas.microsoft.com/office/powerpoint/2010/main" val="2211537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1D7CF-C784-C204-6A19-5C06C341835A}"/>
              </a:ext>
            </a:extLst>
          </p:cNvPr>
          <p:cNvSpPr>
            <a:spLocks noGrp="1"/>
          </p:cNvSpPr>
          <p:nvPr>
            <p:ph type="title"/>
          </p:nvPr>
        </p:nvSpPr>
        <p:spPr>
          <a:xfrm>
            <a:off x="839788" y="365125"/>
            <a:ext cx="10515600" cy="448691"/>
          </a:xfrm>
        </p:spPr>
        <p:txBody>
          <a:bodyPr>
            <a:normAutofit fontScale="90000"/>
          </a:bodyPr>
          <a:lstStyle/>
          <a:p>
            <a:r>
              <a:rPr lang="en-GB" dirty="0"/>
              <a:t>The Problem: Multi-Cloud Governance Gap</a:t>
            </a:r>
          </a:p>
        </p:txBody>
      </p:sp>
      <p:sp>
        <p:nvSpPr>
          <p:cNvPr id="10" name="TextBox 9">
            <a:extLst>
              <a:ext uri="{FF2B5EF4-FFF2-40B4-BE49-F238E27FC236}">
                <a16:creationId xmlns:a16="http://schemas.microsoft.com/office/drawing/2014/main" id="{4D44FDCD-B22D-D3C2-039A-80526337E673}"/>
              </a:ext>
            </a:extLst>
          </p:cNvPr>
          <p:cNvSpPr txBox="1"/>
          <p:nvPr/>
        </p:nvSpPr>
        <p:spPr>
          <a:xfrm>
            <a:off x="838200" y="878119"/>
            <a:ext cx="10515600" cy="646331"/>
          </a:xfrm>
          <a:prstGeom prst="rect">
            <a:avLst/>
          </a:prstGeom>
          <a:noFill/>
        </p:spPr>
        <p:txBody>
          <a:bodyPr wrap="square" rtlCol="0">
            <a:spAutoFit/>
          </a:bodyPr>
          <a:lstStyle/>
          <a:p>
            <a:pPr algn="ctr"/>
            <a:r>
              <a:rPr lang="en-GB" b="1" dirty="0"/>
              <a:t>Regulatory Obligations – Organisational level</a:t>
            </a:r>
          </a:p>
          <a:p>
            <a:pPr algn="ctr"/>
            <a:r>
              <a:rPr lang="en-GB" dirty="0"/>
              <a:t>DORA – FCA – GDPR – MAS – ISO 27001</a:t>
            </a:r>
          </a:p>
        </p:txBody>
      </p:sp>
      <p:pic>
        <p:nvPicPr>
          <p:cNvPr id="8" name="Picture 7">
            <a:extLst>
              <a:ext uri="{FF2B5EF4-FFF2-40B4-BE49-F238E27FC236}">
                <a16:creationId xmlns:a16="http://schemas.microsoft.com/office/drawing/2014/main" id="{29643E72-838A-B5CA-083B-B21CF1D0AB8E}"/>
              </a:ext>
            </a:extLst>
          </p:cNvPr>
          <p:cNvPicPr>
            <a:picLocks noChangeAspect="1"/>
          </p:cNvPicPr>
          <p:nvPr/>
        </p:nvPicPr>
        <p:blipFill>
          <a:blip r:embed="rId3"/>
          <a:stretch>
            <a:fillRect/>
          </a:stretch>
        </p:blipFill>
        <p:spPr>
          <a:xfrm>
            <a:off x="4584700" y="2425639"/>
            <a:ext cx="3011685" cy="823031"/>
          </a:xfrm>
          <a:prstGeom prst="rect">
            <a:avLst/>
          </a:prstGeom>
        </p:spPr>
      </p:pic>
      <p:sp>
        <p:nvSpPr>
          <p:cNvPr id="9" name="Rectangle: Rounded Corners 8">
            <a:extLst>
              <a:ext uri="{FF2B5EF4-FFF2-40B4-BE49-F238E27FC236}">
                <a16:creationId xmlns:a16="http://schemas.microsoft.com/office/drawing/2014/main" id="{A97D6DD7-977D-57E1-9F9D-A65B8BEEDCB8}"/>
              </a:ext>
            </a:extLst>
          </p:cNvPr>
          <p:cNvSpPr/>
          <p:nvPr/>
        </p:nvSpPr>
        <p:spPr>
          <a:xfrm>
            <a:off x="2171700" y="2451100"/>
            <a:ext cx="1879600" cy="927100"/>
          </a:xfrm>
          <a:prstGeom prst="roundRect">
            <a:avLst/>
          </a:prstGeom>
          <a:solidFill>
            <a:srgbClr val="A85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AWS</a:t>
            </a:r>
          </a:p>
        </p:txBody>
      </p:sp>
      <p:sp>
        <p:nvSpPr>
          <p:cNvPr id="16" name="Rectangle: Rounded Corners 15">
            <a:extLst>
              <a:ext uri="{FF2B5EF4-FFF2-40B4-BE49-F238E27FC236}">
                <a16:creationId xmlns:a16="http://schemas.microsoft.com/office/drawing/2014/main" id="{5C77AFCE-EC1A-59A6-DDB4-F8A3526F9CCF}"/>
              </a:ext>
            </a:extLst>
          </p:cNvPr>
          <p:cNvSpPr/>
          <p:nvPr/>
        </p:nvSpPr>
        <p:spPr>
          <a:xfrm>
            <a:off x="5156200" y="2451100"/>
            <a:ext cx="1879600" cy="927100"/>
          </a:xfrm>
          <a:prstGeom prst="roundRect">
            <a:avLst/>
          </a:prstGeom>
          <a:solidFill>
            <a:srgbClr val="1F5FA8"/>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Microsoft Azure</a:t>
            </a:r>
          </a:p>
        </p:txBody>
      </p:sp>
      <p:sp>
        <p:nvSpPr>
          <p:cNvPr id="18" name="Rectangle: Rounded Corners 17">
            <a:extLst>
              <a:ext uri="{FF2B5EF4-FFF2-40B4-BE49-F238E27FC236}">
                <a16:creationId xmlns:a16="http://schemas.microsoft.com/office/drawing/2014/main" id="{38FBB563-74AC-8A54-EDBD-18B1632B7044}"/>
              </a:ext>
            </a:extLst>
          </p:cNvPr>
          <p:cNvSpPr/>
          <p:nvPr/>
        </p:nvSpPr>
        <p:spPr>
          <a:xfrm>
            <a:off x="8140700" y="2451100"/>
            <a:ext cx="1879600" cy="927100"/>
          </a:xfrm>
          <a:prstGeom prst="roundRect">
            <a:avLst/>
          </a:prstGeom>
          <a:solidFill>
            <a:srgbClr val="3F7318"/>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Google Cloud</a:t>
            </a:r>
          </a:p>
        </p:txBody>
      </p:sp>
      <p:sp>
        <p:nvSpPr>
          <p:cNvPr id="26" name="TextBox 25">
            <a:extLst>
              <a:ext uri="{FF2B5EF4-FFF2-40B4-BE49-F238E27FC236}">
                <a16:creationId xmlns:a16="http://schemas.microsoft.com/office/drawing/2014/main" id="{7A50988D-D453-0BFB-875F-C225183FEC41}"/>
              </a:ext>
            </a:extLst>
          </p:cNvPr>
          <p:cNvSpPr txBox="1"/>
          <p:nvPr/>
        </p:nvSpPr>
        <p:spPr>
          <a:xfrm>
            <a:off x="2235200" y="1660235"/>
            <a:ext cx="7729615" cy="369332"/>
          </a:xfrm>
          <a:prstGeom prst="rect">
            <a:avLst/>
          </a:prstGeom>
          <a:noFill/>
        </p:spPr>
        <p:txBody>
          <a:bodyPr wrap="square" rtlCol="0">
            <a:spAutoFit/>
          </a:bodyPr>
          <a:lstStyle/>
          <a:p>
            <a:pPr algn="ctr"/>
            <a:r>
              <a:rPr lang="en-GB" b="1" dirty="0">
                <a:solidFill>
                  <a:srgbClr val="FFC04D"/>
                </a:solidFill>
              </a:rPr>
              <a:t>THE GAP – No unified, cross-provider compliance assurance mechanism</a:t>
            </a:r>
          </a:p>
        </p:txBody>
      </p:sp>
      <p:sp>
        <p:nvSpPr>
          <p:cNvPr id="28" name="Arrow: Down 27">
            <a:extLst>
              <a:ext uri="{FF2B5EF4-FFF2-40B4-BE49-F238E27FC236}">
                <a16:creationId xmlns:a16="http://schemas.microsoft.com/office/drawing/2014/main" id="{CA1DDC9A-4A0D-F180-B18B-2A12836D1D58}"/>
              </a:ext>
            </a:extLst>
          </p:cNvPr>
          <p:cNvSpPr/>
          <p:nvPr/>
        </p:nvSpPr>
        <p:spPr>
          <a:xfrm>
            <a:off x="2895600" y="3479800"/>
            <a:ext cx="429768" cy="609600"/>
          </a:xfrm>
          <a:prstGeom prst="downArrow">
            <a:avLst/>
          </a:prstGeom>
          <a:solidFill>
            <a:srgbClr val="A85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TextBox 35">
            <a:extLst>
              <a:ext uri="{FF2B5EF4-FFF2-40B4-BE49-F238E27FC236}">
                <a16:creationId xmlns:a16="http://schemas.microsoft.com/office/drawing/2014/main" id="{527F85B3-4D20-9F21-331A-7948A0E1EEB3}"/>
              </a:ext>
            </a:extLst>
          </p:cNvPr>
          <p:cNvSpPr txBox="1"/>
          <p:nvPr/>
        </p:nvSpPr>
        <p:spPr>
          <a:xfrm>
            <a:off x="2171700" y="4183637"/>
            <a:ext cx="7848600" cy="369332"/>
          </a:xfrm>
          <a:prstGeom prst="rect">
            <a:avLst/>
          </a:prstGeom>
          <a:noFill/>
        </p:spPr>
        <p:txBody>
          <a:bodyPr wrap="square" rtlCol="0">
            <a:spAutoFit/>
          </a:bodyPr>
          <a:lstStyle/>
          <a:p>
            <a:pPr algn="ctr"/>
            <a:r>
              <a:rPr lang="en-GB" u="sng" dirty="0"/>
              <a:t>Access separate dashboards to compile compliance information and evidence</a:t>
            </a:r>
          </a:p>
        </p:txBody>
      </p:sp>
      <p:pic>
        <p:nvPicPr>
          <p:cNvPr id="40" name="Graphic 39" descr="High voltage outline">
            <a:extLst>
              <a:ext uri="{FF2B5EF4-FFF2-40B4-BE49-F238E27FC236}">
                <a16:creationId xmlns:a16="http://schemas.microsoft.com/office/drawing/2014/main" id="{6C1D5423-E6F8-C079-4C46-366F369575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5000" y="1651000"/>
            <a:ext cx="375320" cy="375320"/>
          </a:xfrm>
          <a:prstGeom prst="rect">
            <a:avLst/>
          </a:prstGeom>
        </p:spPr>
      </p:pic>
      <p:sp>
        <p:nvSpPr>
          <p:cNvPr id="46" name="Arrow: Down 45">
            <a:extLst>
              <a:ext uri="{FF2B5EF4-FFF2-40B4-BE49-F238E27FC236}">
                <a16:creationId xmlns:a16="http://schemas.microsoft.com/office/drawing/2014/main" id="{B321784D-0C2A-4F50-B275-317FB0C4C54F}"/>
              </a:ext>
            </a:extLst>
          </p:cNvPr>
          <p:cNvSpPr/>
          <p:nvPr/>
        </p:nvSpPr>
        <p:spPr>
          <a:xfrm>
            <a:off x="8864600" y="3479800"/>
            <a:ext cx="429768" cy="609600"/>
          </a:xfrm>
          <a:prstGeom prst="downArrow">
            <a:avLst/>
          </a:prstGeom>
          <a:solidFill>
            <a:srgbClr val="3F7318"/>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 name="Arrow: Down 47">
            <a:extLst>
              <a:ext uri="{FF2B5EF4-FFF2-40B4-BE49-F238E27FC236}">
                <a16:creationId xmlns:a16="http://schemas.microsoft.com/office/drawing/2014/main" id="{7B4B658C-B88E-FA81-1F76-EA80DC9081A2}"/>
              </a:ext>
            </a:extLst>
          </p:cNvPr>
          <p:cNvSpPr/>
          <p:nvPr/>
        </p:nvSpPr>
        <p:spPr>
          <a:xfrm>
            <a:off x="5880100" y="3479800"/>
            <a:ext cx="429768" cy="609600"/>
          </a:xfrm>
          <a:prstGeom prst="downArrow">
            <a:avLst/>
          </a:prstGeom>
          <a:solidFill>
            <a:srgbClr val="1F5FA8"/>
          </a:solidFill>
          <a:ln w="19050" cap="flat" cmpd="sng" algn="ctr">
            <a:solidFill>
              <a:srgbClr val="4FCE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2" name="Graphic 51" descr="Medieval Armor with solid fill">
            <a:extLst>
              <a:ext uri="{FF2B5EF4-FFF2-40B4-BE49-F238E27FC236}">
                <a16:creationId xmlns:a16="http://schemas.microsoft.com/office/drawing/2014/main" id="{659EC477-A67D-7490-9FD0-BEEAFDCC3EF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33200" y="859370"/>
            <a:ext cx="665080" cy="665080"/>
          </a:xfrm>
          <a:prstGeom prst="rect">
            <a:avLst/>
          </a:prstGeom>
        </p:spPr>
      </p:pic>
      <p:sp>
        <p:nvSpPr>
          <p:cNvPr id="53" name="Flowchart: Process 52">
            <a:extLst>
              <a:ext uri="{FF2B5EF4-FFF2-40B4-BE49-F238E27FC236}">
                <a16:creationId xmlns:a16="http://schemas.microsoft.com/office/drawing/2014/main" id="{70A22D87-4ED5-96C8-5355-E9D43BD6C456}"/>
              </a:ext>
            </a:extLst>
          </p:cNvPr>
          <p:cNvSpPr/>
          <p:nvPr/>
        </p:nvSpPr>
        <p:spPr>
          <a:xfrm>
            <a:off x="2171700" y="4880855"/>
            <a:ext cx="7848600" cy="859536"/>
          </a:xfrm>
          <a:prstGeom prst="flowChartProcess">
            <a:avLst/>
          </a:prstGeom>
          <a:solidFill>
            <a:srgbClr val="E8EDF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8A4B00"/>
                </a:solidFill>
              </a:rPr>
              <a:t>Manual compilation of compliance results from different dashboards</a:t>
            </a:r>
          </a:p>
        </p:txBody>
      </p:sp>
    </p:spTree>
    <p:extLst>
      <p:ext uri="{BB962C8B-B14F-4D97-AF65-F5344CB8AC3E}">
        <p14:creationId xmlns:p14="http://schemas.microsoft.com/office/powerpoint/2010/main" val="1443119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C02CD7-2863-366B-5BC8-4E31BCCFAAD4}"/>
              </a:ext>
            </a:extLst>
          </p:cNvPr>
          <p:cNvSpPr txBox="1"/>
          <p:nvPr/>
        </p:nvSpPr>
        <p:spPr>
          <a:xfrm>
            <a:off x="1155700" y="347472"/>
            <a:ext cx="7528560" cy="707886"/>
          </a:xfrm>
          <a:prstGeom prst="rect">
            <a:avLst/>
          </a:prstGeom>
          <a:noFill/>
        </p:spPr>
        <p:txBody>
          <a:bodyPr wrap="square" rtlCol="0">
            <a:spAutoFit/>
          </a:bodyPr>
          <a:lstStyle/>
          <a:p>
            <a:r>
              <a:rPr lang="en-GB" sz="4000" dirty="0">
                <a:latin typeface="+mj-lt"/>
              </a:rPr>
              <a:t>Research Objectives</a:t>
            </a:r>
          </a:p>
        </p:txBody>
      </p:sp>
      <p:sp>
        <p:nvSpPr>
          <p:cNvPr id="3" name="TextBox 2">
            <a:extLst>
              <a:ext uri="{FF2B5EF4-FFF2-40B4-BE49-F238E27FC236}">
                <a16:creationId xmlns:a16="http://schemas.microsoft.com/office/drawing/2014/main" id="{FAD4CD47-C727-7DE8-A961-C7E4D734773E}"/>
              </a:ext>
            </a:extLst>
          </p:cNvPr>
          <p:cNvSpPr txBox="1"/>
          <p:nvPr/>
        </p:nvSpPr>
        <p:spPr>
          <a:xfrm>
            <a:off x="1155700" y="1383423"/>
            <a:ext cx="6757416" cy="461665"/>
          </a:xfrm>
          <a:prstGeom prst="rect">
            <a:avLst/>
          </a:prstGeom>
          <a:noFill/>
        </p:spPr>
        <p:txBody>
          <a:bodyPr wrap="square" rtlCol="0">
            <a:spAutoFit/>
          </a:bodyPr>
          <a:lstStyle/>
          <a:p>
            <a:pPr algn="l"/>
            <a:r>
              <a:rPr lang="en-GB" sz="2400" b="1" dirty="0"/>
              <a:t>What are the aims of this research?</a:t>
            </a:r>
          </a:p>
        </p:txBody>
      </p:sp>
      <p:sp>
        <p:nvSpPr>
          <p:cNvPr id="7" name="TextBox 6">
            <a:extLst>
              <a:ext uri="{FF2B5EF4-FFF2-40B4-BE49-F238E27FC236}">
                <a16:creationId xmlns:a16="http://schemas.microsoft.com/office/drawing/2014/main" id="{3E46DB2B-6F62-1F8C-CB18-089ABBEAEF16}"/>
              </a:ext>
            </a:extLst>
          </p:cNvPr>
          <p:cNvSpPr txBox="1"/>
          <p:nvPr/>
        </p:nvSpPr>
        <p:spPr>
          <a:xfrm>
            <a:off x="1155700" y="2247900"/>
            <a:ext cx="6469380" cy="523220"/>
          </a:xfrm>
          <a:prstGeom prst="rect">
            <a:avLst/>
          </a:prstGeom>
          <a:noFill/>
        </p:spPr>
        <p:txBody>
          <a:bodyPr wrap="square" rtlCol="0">
            <a:spAutoFit/>
          </a:bodyPr>
          <a:lstStyle/>
          <a:p>
            <a:r>
              <a:rPr lang="en-GB" sz="2800" dirty="0"/>
              <a:t>Identify the multi-cloud governance gap</a:t>
            </a:r>
          </a:p>
        </p:txBody>
      </p:sp>
      <p:sp>
        <p:nvSpPr>
          <p:cNvPr id="8" name="TextBox 7">
            <a:extLst>
              <a:ext uri="{FF2B5EF4-FFF2-40B4-BE49-F238E27FC236}">
                <a16:creationId xmlns:a16="http://schemas.microsoft.com/office/drawing/2014/main" id="{F9F5D29D-8359-F485-24B7-A973E018EC9B}"/>
              </a:ext>
            </a:extLst>
          </p:cNvPr>
          <p:cNvSpPr txBox="1"/>
          <p:nvPr/>
        </p:nvSpPr>
        <p:spPr>
          <a:xfrm>
            <a:off x="1155700" y="3035300"/>
            <a:ext cx="5321808" cy="523220"/>
          </a:xfrm>
          <a:prstGeom prst="rect">
            <a:avLst/>
          </a:prstGeom>
          <a:noFill/>
        </p:spPr>
        <p:txBody>
          <a:bodyPr wrap="square" rtlCol="0">
            <a:spAutoFit/>
          </a:bodyPr>
          <a:lstStyle/>
          <a:p>
            <a:r>
              <a:rPr lang="en-GB" sz="2800" dirty="0"/>
              <a:t>Design the AMCAF framework</a:t>
            </a:r>
          </a:p>
        </p:txBody>
      </p:sp>
      <p:sp>
        <p:nvSpPr>
          <p:cNvPr id="9" name="TextBox 8">
            <a:extLst>
              <a:ext uri="{FF2B5EF4-FFF2-40B4-BE49-F238E27FC236}">
                <a16:creationId xmlns:a16="http://schemas.microsoft.com/office/drawing/2014/main" id="{005C59A6-8CB8-673C-4461-72A9EE151E4A}"/>
              </a:ext>
            </a:extLst>
          </p:cNvPr>
          <p:cNvSpPr txBox="1"/>
          <p:nvPr/>
        </p:nvSpPr>
        <p:spPr>
          <a:xfrm>
            <a:off x="1155700" y="3822700"/>
            <a:ext cx="4693268" cy="523220"/>
          </a:xfrm>
          <a:prstGeom prst="rect">
            <a:avLst/>
          </a:prstGeom>
          <a:noFill/>
        </p:spPr>
        <p:txBody>
          <a:bodyPr wrap="square" rtlCol="0">
            <a:spAutoFit/>
          </a:bodyPr>
          <a:lstStyle/>
          <a:p>
            <a:r>
              <a:rPr lang="en-GB" sz="2800" dirty="0"/>
              <a:t>Develop a working prototype</a:t>
            </a:r>
          </a:p>
        </p:txBody>
      </p:sp>
      <p:sp>
        <p:nvSpPr>
          <p:cNvPr id="10" name="TextBox 9">
            <a:extLst>
              <a:ext uri="{FF2B5EF4-FFF2-40B4-BE49-F238E27FC236}">
                <a16:creationId xmlns:a16="http://schemas.microsoft.com/office/drawing/2014/main" id="{E25896AE-2E9F-A892-BEB8-EDC9CECB8ECC}"/>
              </a:ext>
            </a:extLst>
          </p:cNvPr>
          <p:cNvSpPr txBox="1"/>
          <p:nvPr/>
        </p:nvSpPr>
        <p:spPr>
          <a:xfrm>
            <a:off x="1155700" y="4610100"/>
            <a:ext cx="9427464" cy="523220"/>
          </a:xfrm>
          <a:prstGeom prst="rect">
            <a:avLst/>
          </a:prstGeom>
          <a:noFill/>
        </p:spPr>
        <p:txBody>
          <a:bodyPr wrap="square" rtlCol="0">
            <a:spAutoFit/>
          </a:bodyPr>
          <a:lstStyle/>
          <a:p>
            <a:r>
              <a:rPr lang="en-GB" sz="2800" dirty="0"/>
              <a:t>Validate the framework across multiple cloud environments</a:t>
            </a:r>
          </a:p>
        </p:txBody>
      </p:sp>
      <p:sp>
        <p:nvSpPr>
          <p:cNvPr id="11" name="TextBox 10">
            <a:extLst>
              <a:ext uri="{FF2B5EF4-FFF2-40B4-BE49-F238E27FC236}">
                <a16:creationId xmlns:a16="http://schemas.microsoft.com/office/drawing/2014/main" id="{CC848A67-B73F-CACD-238B-39B38D6698D9}"/>
              </a:ext>
            </a:extLst>
          </p:cNvPr>
          <p:cNvSpPr txBox="1"/>
          <p:nvPr/>
        </p:nvSpPr>
        <p:spPr>
          <a:xfrm>
            <a:off x="1155700" y="5397500"/>
            <a:ext cx="6037826" cy="523220"/>
          </a:xfrm>
          <a:prstGeom prst="rect">
            <a:avLst/>
          </a:prstGeom>
          <a:noFill/>
        </p:spPr>
        <p:txBody>
          <a:bodyPr wrap="square" rtlCol="0">
            <a:spAutoFit/>
          </a:bodyPr>
          <a:lstStyle/>
          <a:p>
            <a:r>
              <a:rPr lang="en-GB" sz="2800" dirty="0"/>
              <a:t>Evaluate the effectiveness of AMCAF</a:t>
            </a:r>
          </a:p>
        </p:txBody>
      </p:sp>
      <p:pic>
        <p:nvPicPr>
          <p:cNvPr id="13" name="Graphic 12" descr="Clipboard Mixed outline">
            <a:extLst>
              <a:ext uri="{FF2B5EF4-FFF2-40B4-BE49-F238E27FC236}">
                <a16:creationId xmlns:a16="http://schemas.microsoft.com/office/drawing/2014/main" id="{68D1C9CF-F450-56EE-3ECE-B59C22C64F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7600" y="2235200"/>
            <a:ext cx="542544" cy="542544"/>
          </a:xfrm>
          <a:prstGeom prst="rect">
            <a:avLst/>
          </a:prstGeom>
        </p:spPr>
      </p:pic>
      <p:pic>
        <p:nvPicPr>
          <p:cNvPr id="15" name="Graphic 14" descr="Ui Ux outline">
            <a:extLst>
              <a:ext uri="{FF2B5EF4-FFF2-40B4-BE49-F238E27FC236}">
                <a16:creationId xmlns:a16="http://schemas.microsoft.com/office/drawing/2014/main" id="{42B20953-7E23-25FA-A6D0-E2765156EF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43600" y="3028950"/>
            <a:ext cx="528566" cy="528566"/>
          </a:xfrm>
          <a:prstGeom prst="rect">
            <a:avLst/>
          </a:prstGeom>
        </p:spPr>
      </p:pic>
      <p:pic>
        <p:nvPicPr>
          <p:cNvPr id="17" name="Graphic 16" descr="Test Dummy outline">
            <a:extLst>
              <a:ext uri="{FF2B5EF4-FFF2-40B4-BE49-F238E27FC236}">
                <a16:creationId xmlns:a16="http://schemas.microsoft.com/office/drawing/2014/main" id="{C77CF552-7213-0965-80EC-620DE4227D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27700" y="3822700"/>
            <a:ext cx="514460" cy="514460"/>
          </a:xfrm>
          <a:prstGeom prst="rect">
            <a:avLst/>
          </a:prstGeom>
        </p:spPr>
      </p:pic>
      <p:pic>
        <p:nvPicPr>
          <p:cNvPr id="19" name="Graphic 18" descr="Badge Tick outline">
            <a:extLst>
              <a:ext uri="{FF2B5EF4-FFF2-40B4-BE49-F238E27FC236}">
                <a16:creationId xmlns:a16="http://schemas.microsoft.com/office/drawing/2014/main" id="{1081A80A-3761-DAA2-83DE-0E0D76187E8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52100" y="4578350"/>
            <a:ext cx="587392" cy="587392"/>
          </a:xfrm>
          <a:prstGeom prst="rect">
            <a:avLst/>
          </a:prstGeom>
        </p:spPr>
      </p:pic>
      <p:pic>
        <p:nvPicPr>
          <p:cNvPr id="21" name="Graphic 20" descr="Tick with solid fill">
            <a:extLst>
              <a:ext uri="{FF2B5EF4-FFF2-40B4-BE49-F238E27FC236}">
                <a16:creationId xmlns:a16="http://schemas.microsoft.com/office/drawing/2014/main" id="{36BA1B3C-44B2-A2CC-6F8E-D633276F17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93526" y="5435600"/>
            <a:ext cx="448056" cy="448056"/>
          </a:xfrm>
          <a:prstGeom prst="rect">
            <a:avLst/>
          </a:prstGeom>
        </p:spPr>
      </p:pic>
    </p:spTree>
    <p:extLst>
      <p:ext uri="{BB962C8B-B14F-4D97-AF65-F5344CB8AC3E}">
        <p14:creationId xmlns:p14="http://schemas.microsoft.com/office/powerpoint/2010/main" val="1895342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1C8B49-8C48-43C9-68E5-75BE820E7430}"/>
              </a:ext>
            </a:extLst>
          </p:cNvPr>
          <p:cNvSpPr txBox="1"/>
          <p:nvPr/>
        </p:nvSpPr>
        <p:spPr>
          <a:xfrm flipH="1">
            <a:off x="1143000" y="402336"/>
            <a:ext cx="4270248" cy="584775"/>
          </a:xfrm>
          <a:prstGeom prst="rect">
            <a:avLst/>
          </a:prstGeom>
          <a:noFill/>
        </p:spPr>
        <p:txBody>
          <a:bodyPr wrap="square" rtlCol="0">
            <a:spAutoFit/>
          </a:bodyPr>
          <a:lstStyle/>
          <a:p>
            <a:r>
              <a:rPr lang="en-GB" sz="3200" b="1" dirty="0">
                <a:latin typeface="+mj-lt"/>
              </a:rPr>
              <a:t>Methodology Selection</a:t>
            </a:r>
          </a:p>
        </p:txBody>
      </p:sp>
      <p:sp>
        <p:nvSpPr>
          <p:cNvPr id="4" name="Rectangle: Rounded Corners 3">
            <a:extLst>
              <a:ext uri="{FF2B5EF4-FFF2-40B4-BE49-F238E27FC236}">
                <a16:creationId xmlns:a16="http://schemas.microsoft.com/office/drawing/2014/main" id="{841D1F65-83C2-EBB7-B284-AE05489F757B}"/>
              </a:ext>
            </a:extLst>
          </p:cNvPr>
          <p:cNvSpPr/>
          <p:nvPr/>
        </p:nvSpPr>
        <p:spPr>
          <a:xfrm>
            <a:off x="1143000" y="1447800"/>
            <a:ext cx="4445000" cy="1943100"/>
          </a:xfrm>
          <a:prstGeom prst="roundRect">
            <a:avLst/>
          </a:prstGeom>
          <a:solidFill>
            <a:schemeClr val="tx2"/>
          </a:solidFill>
          <a:ln>
            <a:solidFill>
              <a:srgbClr val="B30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rgbClr val="B3001B"/>
                </a:solidFill>
              </a:rPr>
              <a:t>Case study</a:t>
            </a:r>
          </a:p>
          <a:p>
            <a:r>
              <a:rPr lang="en-GB" dirty="0">
                <a:solidFill>
                  <a:srgbClr val="B3001B"/>
                </a:solidFill>
              </a:rPr>
              <a:t>Investigates an existing organisation</a:t>
            </a:r>
          </a:p>
          <a:p>
            <a:r>
              <a:rPr lang="en-GB" dirty="0">
                <a:solidFill>
                  <a:srgbClr val="B3001B"/>
                </a:solidFill>
              </a:rPr>
              <a:t>Requires organisational access</a:t>
            </a:r>
          </a:p>
          <a:p>
            <a:r>
              <a:rPr lang="en-GB" dirty="0">
                <a:solidFill>
                  <a:srgbClr val="B3001B"/>
                </a:solidFill>
              </a:rPr>
              <a:t>Focuses on understanding rather than creating</a:t>
            </a:r>
          </a:p>
          <a:p>
            <a:r>
              <a:rPr lang="en-GB" dirty="0">
                <a:solidFill>
                  <a:srgbClr val="B3001B"/>
                </a:solidFill>
              </a:rPr>
              <a:t>Limited generalisability</a:t>
            </a:r>
          </a:p>
        </p:txBody>
      </p:sp>
      <p:sp>
        <p:nvSpPr>
          <p:cNvPr id="6" name="Rectangle: Rounded Corners 5">
            <a:extLst>
              <a:ext uri="{FF2B5EF4-FFF2-40B4-BE49-F238E27FC236}">
                <a16:creationId xmlns:a16="http://schemas.microsoft.com/office/drawing/2014/main" id="{423057BF-B481-F51F-1513-F7D8FA29E0C0}"/>
              </a:ext>
            </a:extLst>
          </p:cNvPr>
          <p:cNvSpPr/>
          <p:nvPr/>
        </p:nvSpPr>
        <p:spPr>
          <a:xfrm>
            <a:off x="6604000" y="1447800"/>
            <a:ext cx="4445000" cy="1943100"/>
          </a:xfrm>
          <a:prstGeom prst="roundRect">
            <a:avLst/>
          </a:prstGeom>
          <a:solidFill>
            <a:schemeClr val="tx2"/>
          </a:solidFill>
          <a:ln>
            <a:solidFill>
              <a:srgbClr val="B30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rgbClr val="B3001B"/>
                </a:solidFill>
              </a:rPr>
              <a:t>Grounded Theory</a:t>
            </a:r>
          </a:p>
          <a:p>
            <a:r>
              <a:rPr lang="en-GB" dirty="0">
                <a:solidFill>
                  <a:srgbClr val="B3001B"/>
                </a:solidFill>
              </a:rPr>
              <a:t>Generates new theory</a:t>
            </a:r>
          </a:p>
          <a:p>
            <a:r>
              <a:rPr lang="en-GB" dirty="0">
                <a:solidFill>
                  <a:srgbClr val="B3001B"/>
                </a:solidFill>
              </a:rPr>
              <a:t>Requires qualitative interviews</a:t>
            </a:r>
          </a:p>
          <a:p>
            <a:r>
              <a:rPr lang="en-GB" dirty="0">
                <a:solidFill>
                  <a:srgbClr val="B3001B"/>
                </a:solidFill>
              </a:rPr>
              <a:t>Theory emerges from data</a:t>
            </a:r>
          </a:p>
          <a:p>
            <a:r>
              <a:rPr lang="en-GB" dirty="0">
                <a:solidFill>
                  <a:srgbClr val="B3001B"/>
                </a:solidFill>
              </a:rPr>
              <a:t>No artefact development</a:t>
            </a:r>
          </a:p>
          <a:p>
            <a:endParaRPr lang="en-GB" dirty="0">
              <a:solidFill>
                <a:srgbClr val="B3001B"/>
              </a:solidFill>
            </a:endParaRPr>
          </a:p>
        </p:txBody>
      </p:sp>
      <p:sp>
        <p:nvSpPr>
          <p:cNvPr id="7" name="TextBox 6">
            <a:extLst>
              <a:ext uri="{FF2B5EF4-FFF2-40B4-BE49-F238E27FC236}">
                <a16:creationId xmlns:a16="http://schemas.microsoft.com/office/drawing/2014/main" id="{FEF641C3-D5FB-063F-7633-8619CE424D34}"/>
              </a:ext>
            </a:extLst>
          </p:cNvPr>
          <p:cNvSpPr txBox="1"/>
          <p:nvPr/>
        </p:nvSpPr>
        <p:spPr>
          <a:xfrm>
            <a:off x="2150364" y="3941064"/>
            <a:ext cx="7891272" cy="369332"/>
          </a:xfrm>
          <a:prstGeom prst="rect">
            <a:avLst/>
          </a:prstGeom>
          <a:noFill/>
        </p:spPr>
        <p:txBody>
          <a:bodyPr wrap="square" rtlCol="0">
            <a:spAutoFit/>
          </a:bodyPr>
          <a:lstStyle/>
          <a:p>
            <a:pPr algn="ctr"/>
            <a:r>
              <a:rPr lang="en-GB" b="1" dirty="0">
                <a:solidFill>
                  <a:srgbClr val="00B050"/>
                </a:solidFill>
              </a:rPr>
              <a:t>Design Science Research</a:t>
            </a:r>
          </a:p>
        </p:txBody>
      </p:sp>
      <p:sp>
        <p:nvSpPr>
          <p:cNvPr id="8" name="TextBox 7">
            <a:extLst>
              <a:ext uri="{FF2B5EF4-FFF2-40B4-BE49-F238E27FC236}">
                <a16:creationId xmlns:a16="http://schemas.microsoft.com/office/drawing/2014/main" id="{89509DE6-BF3D-CAD8-F7AE-5997495D39FE}"/>
              </a:ext>
            </a:extLst>
          </p:cNvPr>
          <p:cNvSpPr txBox="1"/>
          <p:nvPr/>
        </p:nvSpPr>
        <p:spPr>
          <a:xfrm>
            <a:off x="1206500" y="4495800"/>
            <a:ext cx="4445000" cy="1754326"/>
          </a:xfrm>
          <a:prstGeom prst="rect">
            <a:avLst/>
          </a:prstGeom>
          <a:noFill/>
        </p:spPr>
        <p:txBody>
          <a:bodyPr wrap="square" rtlCol="0">
            <a:spAutoFit/>
          </a:bodyPr>
          <a:lstStyle/>
          <a:p>
            <a:pPr marL="285750" indent="-285750">
              <a:buFont typeface="Arial" panose="020B0604020202020204" pitchFamily="34" charset="0"/>
              <a:buChar char="•"/>
            </a:pPr>
            <a:r>
              <a:rPr lang="en-GB" dirty="0">
                <a:solidFill>
                  <a:srgbClr val="00B050"/>
                </a:solidFill>
              </a:rPr>
              <a:t>Identifies a practical problem</a:t>
            </a:r>
          </a:p>
          <a:p>
            <a:pPr marL="285750" indent="-285750">
              <a:buFont typeface="Arial" panose="020B0604020202020204" pitchFamily="34" charset="0"/>
              <a:buChar char="•"/>
            </a:pPr>
            <a:r>
              <a:rPr lang="en-GB" dirty="0">
                <a:solidFill>
                  <a:srgbClr val="00B050"/>
                </a:solidFill>
              </a:rPr>
              <a:t>Designs a provider-agnostic framework</a:t>
            </a:r>
          </a:p>
          <a:p>
            <a:pPr marL="285750" indent="-285750">
              <a:buFont typeface="Arial" panose="020B0604020202020204" pitchFamily="34" charset="0"/>
              <a:buChar char="•"/>
            </a:pPr>
            <a:r>
              <a:rPr lang="en-GB" dirty="0">
                <a:solidFill>
                  <a:srgbClr val="00B050"/>
                </a:solidFill>
              </a:rPr>
              <a:t>Implements a working prototype</a:t>
            </a:r>
          </a:p>
          <a:p>
            <a:pPr marL="285750" indent="-285750">
              <a:buFont typeface="Arial" panose="020B0604020202020204" pitchFamily="34" charset="0"/>
              <a:buChar char="•"/>
            </a:pPr>
            <a:r>
              <a:rPr lang="en-GB" dirty="0">
                <a:solidFill>
                  <a:srgbClr val="00B050"/>
                </a:solidFill>
              </a:rPr>
              <a:t>Validates through synthetic and live cloud assessments</a:t>
            </a:r>
          </a:p>
          <a:p>
            <a:endParaRPr lang="en-GB" dirty="0"/>
          </a:p>
        </p:txBody>
      </p:sp>
      <p:sp>
        <p:nvSpPr>
          <p:cNvPr id="10" name="TextBox 9">
            <a:extLst>
              <a:ext uri="{FF2B5EF4-FFF2-40B4-BE49-F238E27FC236}">
                <a16:creationId xmlns:a16="http://schemas.microsoft.com/office/drawing/2014/main" id="{BA6CECA5-A146-A707-C9D0-E89083F27CAC}"/>
              </a:ext>
            </a:extLst>
          </p:cNvPr>
          <p:cNvSpPr txBox="1"/>
          <p:nvPr/>
        </p:nvSpPr>
        <p:spPr>
          <a:xfrm>
            <a:off x="6667500" y="4495800"/>
            <a:ext cx="4445000" cy="1477328"/>
          </a:xfrm>
          <a:prstGeom prst="rect">
            <a:avLst/>
          </a:prstGeom>
          <a:noFill/>
        </p:spPr>
        <p:txBody>
          <a:bodyPr wrap="square" rtlCol="0">
            <a:spAutoFit/>
          </a:bodyPr>
          <a:lstStyle/>
          <a:p>
            <a:pPr marL="285750" indent="-285750">
              <a:buFont typeface="Arial" panose="020B0604020202020204" pitchFamily="34" charset="0"/>
              <a:buChar char="•"/>
            </a:pPr>
            <a:r>
              <a:rPr lang="en-GB" dirty="0">
                <a:solidFill>
                  <a:srgbClr val="00B050"/>
                </a:solidFill>
              </a:rPr>
              <a:t>Supports iterative refinement of the artefact</a:t>
            </a:r>
            <a:endParaRPr lang="en-GB" dirty="0"/>
          </a:p>
          <a:p>
            <a:pPr marL="285750" indent="-285750">
              <a:buFont typeface="Arial" panose="020B0604020202020204" pitchFamily="34" charset="0"/>
              <a:buChar char="•"/>
            </a:pPr>
            <a:r>
              <a:rPr lang="en-GB" dirty="0">
                <a:solidFill>
                  <a:srgbClr val="00B050"/>
                </a:solidFill>
              </a:rPr>
              <a:t>Evaluates both the framework and the implementation</a:t>
            </a:r>
          </a:p>
          <a:p>
            <a:pPr marL="285750" indent="-285750">
              <a:buFont typeface="Arial" panose="020B0604020202020204" pitchFamily="34" charset="0"/>
              <a:buChar char="•"/>
            </a:pPr>
            <a:r>
              <a:rPr lang="en-GB" dirty="0">
                <a:solidFill>
                  <a:srgbClr val="00B050"/>
                </a:solidFill>
              </a:rPr>
              <a:t>Produces a reusable provider-agnostic framework</a:t>
            </a:r>
          </a:p>
        </p:txBody>
      </p:sp>
    </p:spTree>
    <p:extLst>
      <p:ext uri="{BB962C8B-B14F-4D97-AF65-F5344CB8AC3E}">
        <p14:creationId xmlns:p14="http://schemas.microsoft.com/office/powerpoint/2010/main" val="1785196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56BB6-7407-ED60-CCA4-DAF69782E568}"/>
              </a:ext>
            </a:extLst>
          </p:cNvPr>
          <p:cNvSpPr>
            <a:spLocks noGrp="1"/>
          </p:cNvSpPr>
          <p:nvPr>
            <p:ph type="title"/>
          </p:nvPr>
        </p:nvSpPr>
        <p:spPr>
          <a:xfrm>
            <a:off x="838200" y="418306"/>
            <a:ext cx="10515600" cy="1325563"/>
          </a:xfrm>
        </p:spPr>
        <p:txBody>
          <a:bodyPr/>
          <a:lstStyle/>
          <a:p>
            <a:pPr algn="ctr"/>
            <a:r>
              <a:rPr lang="en-GB" dirty="0"/>
              <a:t>Application of Design Science Research</a:t>
            </a:r>
          </a:p>
        </p:txBody>
      </p:sp>
      <p:sp>
        <p:nvSpPr>
          <p:cNvPr id="3" name="Rectangle: Rounded Corners 2">
            <a:extLst>
              <a:ext uri="{FF2B5EF4-FFF2-40B4-BE49-F238E27FC236}">
                <a16:creationId xmlns:a16="http://schemas.microsoft.com/office/drawing/2014/main" id="{4B82FCF6-69DF-61B6-E2D7-35E5D91CDCEC}"/>
              </a:ext>
            </a:extLst>
          </p:cNvPr>
          <p:cNvSpPr/>
          <p:nvPr/>
        </p:nvSpPr>
        <p:spPr>
          <a:xfrm>
            <a:off x="723900" y="2832100"/>
            <a:ext cx="2552700" cy="736600"/>
          </a:xfrm>
          <a:prstGeom prst="roundRect">
            <a:avLst/>
          </a:prstGeom>
          <a:solidFill>
            <a:srgbClr val="F4A24C"/>
          </a:solidFill>
          <a:ln w="19050" cap="flat" cmpd="sng" algn="ctr">
            <a:solidFill>
              <a:srgbClr val="D07C1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1F2430"/>
                </a:solidFill>
              </a:rPr>
              <a:t>Problem Identification</a:t>
            </a:r>
          </a:p>
        </p:txBody>
      </p:sp>
      <p:sp>
        <p:nvSpPr>
          <p:cNvPr id="5" name="Rectangle: Rounded Corners 4">
            <a:extLst>
              <a:ext uri="{FF2B5EF4-FFF2-40B4-BE49-F238E27FC236}">
                <a16:creationId xmlns:a16="http://schemas.microsoft.com/office/drawing/2014/main" id="{573C1A4C-0528-990D-2734-51176A03CC90}"/>
              </a:ext>
            </a:extLst>
          </p:cNvPr>
          <p:cNvSpPr/>
          <p:nvPr/>
        </p:nvSpPr>
        <p:spPr>
          <a:xfrm>
            <a:off x="4305300" y="5295900"/>
            <a:ext cx="2552700" cy="736600"/>
          </a:xfrm>
          <a:prstGeom prst="roundRect">
            <a:avLst/>
          </a:prstGeom>
          <a:solidFill>
            <a:srgbClr val="34C185"/>
          </a:solidFill>
          <a:ln w="19050" cap="flat" cmpd="sng" algn="ctr">
            <a:solidFill>
              <a:srgbClr val="1E946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1F2430"/>
                </a:solidFill>
              </a:rPr>
              <a:t>Synthetic Multi-Cloud Validation</a:t>
            </a:r>
          </a:p>
        </p:txBody>
      </p:sp>
      <p:sp>
        <p:nvSpPr>
          <p:cNvPr id="7" name="Rectangle: Rounded Corners 6">
            <a:extLst>
              <a:ext uri="{FF2B5EF4-FFF2-40B4-BE49-F238E27FC236}">
                <a16:creationId xmlns:a16="http://schemas.microsoft.com/office/drawing/2014/main" id="{5695223D-19C5-FC48-6B7A-C0F73BD59EBD}"/>
              </a:ext>
            </a:extLst>
          </p:cNvPr>
          <p:cNvSpPr/>
          <p:nvPr/>
        </p:nvSpPr>
        <p:spPr>
          <a:xfrm>
            <a:off x="723900" y="5295900"/>
            <a:ext cx="2552700" cy="736600"/>
          </a:xfrm>
          <a:prstGeom prst="roundRect">
            <a:avLst/>
          </a:prstGeom>
          <a:solidFill>
            <a:srgbClr val="F4A24C"/>
          </a:solidFill>
          <a:ln w="19050" cap="flat" cmpd="sng" algn="ctr">
            <a:solidFill>
              <a:srgbClr val="D07C1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1F2430"/>
                </a:solidFill>
              </a:rPr>
              <a:t>Regulatory Control Abstraction</a:t>
            </a:r>
          </a:p>
        </p:txBody>
      </p:sp>
      <p:sp>
        <p:nvSpPr>
          <p:cNvPr id="9" name="Rectangle: Rounded Corners 8">
            <a:extLst>
              <a:ext uri="{FF2B5EF4-FFF2-40B4-BE49-F238E27FC236}">
                <a16:creationId xmlns:a16="http://schemas.microsoft.com/office/drawing/2014/main" id="{D320D04F-0F0E-FBAA-514B-8FE921742726}"/>
              </a:ext>
            </a:extLst>
          </p:cNvPr>
          <p:cNvSpPr/>
          <p:nvPr/>
        </p:nvSpPr>
        <p:spPr>
          <a:xfrm>
            <a:off x="723900" y="4064000"/>
            <a:ext cx="2552700" cy="736600"/>
          </a:xfrm>
          <a:prstGeom prst="roundRect">
            <a:avLst/>
          </a:prstGeom>
          <a:solidFill>
            <a:srgbClr val="F4A24C"/>
          </a:solidFill>
          <a:ln w="19050" cap="flat" cmpd="sng" algn="ctr">
            <a:solidFill>
              <a:srgbClr val="D07C1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1F2430"/>
                </a:solidFill>
              </a:rPr>
              <a:t>Literature Review</a:t>
            </a:r>
          </a:p>
        </p:txBody>
      </p:sp>
      <p:sp>
        <p:nvSpPr>
          <p:cNvPr id="11" name="Rectangle: Rounded Corners 10">
            <a:extLst>
              <a:ext uri="{FF2B5EF4-FFF2-40B4-BE49-F238E27FC236}">
                <a16:creationId xmlns:a16="http://schemas.microsoft.com/office/drawing/2014/main" id="{E434498F-7608-1014-356F-BA52BC1FA9AE}"/>
              </a:ext>
            </a:extLst>
          </p:cNvPr>
          <p:cNvSpPr/>
          <p:nvPr/>
        </p:nvSpPr>
        <p:spPr>
          <a:xfrm>
            <a:off x="4305300" y="4064000"/>
            <a:ext cx="2552700" cy="736600"/>
          </a:xfrm>
          <a:prstGeom prst="roundRect">
            <a:avLst/>
          </a:prstGeom>
          <a:solidFill>
            <a:srgbClr val="34C185"/>
          </a:solidFill>
          <a:ln w="19050" cap="flat" cmpd="sng" algn="ctr">
            <a:solidFill>
              <a:srgbClr val="1E946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1F2430"/>
                </a:solidFill>
              </a:rPr>
              <a:t>Prototype Development</a:t>
            </a:r>
          </a:p>
        </p:txBody>
      </p:sp>
      <p:sp>
        <p:nvSpPr>
          <p:cNvPr id="13" name="Rectangle: Rounded Corners 12">
            <a:extLst>
              <a:ext uri="{FF2B5EF4-FFF2-40B4-BE49-F238E27FC236}">
                <a16:creationId xmlns:a16="http://schemas.microsoft.com/office/drawing/2014/main" id="{74D91C7C-F15F-4C6D-03BE-C8C60F41B72B}"/>
              </a:ext>
            </a:extLst>
          </p:cNvPr>
          <p:cNvSpPr/>
          <p:nvPr/>
        </p:nvSpPr>
        <p:spPr>
          <a:xfrm>
            <a:off x="7886700" y="4064000"/>
            <a:ext cx="2552700" cy="736600"/>
          </a:xfrm>
          <a:prstGeom prst="roundRect">
            <a:avLst/>
          </a:prstGeom>
          <a:solidFill>
            <a:srgbClr val="F4603C"/>
          </a:solidFill>
          <a:ln w="19050" cap="flat" cmpd="sng" algn="ctr">
            <a:solidFill>
              <a:srgbClr val="C43F1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1F2430"/>
                </a:solidFill>
              </a:rPr>
              <a:t>Executive Dashboard Visualisation</a:t>
            </a:r>
          </a:p>
        </p:txBody>
      </p:sp>
      <p:sp>
        <p:nvSpPr>
          <p:cNvPr id="15" name="Rectangle: Rounded Corners 14">
            <a:extLst>
              <a:ext uri="{FF2B5EF4-FFF2-40B4-BE49-F238E27FC236}">
                <a16:creationId xmlns:a16="http://schemas.microsoft.com/office/drawing/2014/main" id="{BBB591FF-E420-904E-133E-9D9E972D4C0A}"/>
              </a:ext>
            </a:extLst>
          </p:cNvPr>
          <p:cNvSpPr/>
          <p:nvPr/>
        </p:nvSpPr>
        <p:spPr>
          <a:xfrm>
            <a:off x="7886700" y="2832100"/>
            <a:ext cx="2552700" cy="736600"/>
          </a:xfrm>
          <a:prstGeom prst="roundRect">
            <a:avLst/>
          </a:prstGeom>
          <a:solidFill>
            <a:srgbClr val="F4603C"/>
          </a:solidFill>
          <a:ln w="19050" cap="flat" cmpd="sng" algn="ctr">
            <a:solidFill>
              <a:srgbClr val="C43F1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1F2430"/>
                </a:solidFill>
              </a:rPr>
              <a:t>Live Multi-Cloud Validation &amp; Evidence Generation</a:t>
            </a:r>
          </a:p>
        </p:txBody>
      </p:sp>
      <p:sp>
        <p:nvSpPr>
          <p:cNvPr id="17" name="Rectangle: Rounded Corners 16">
            <a:extLst>
              <a:ext uri="{FF2B5EF4-FFF2-40B4-BE49-F238E27FC236}">
                <a16:creationId xmlns:a16="http://schemas.microsoft.com/office/drawing/2014/main" id="{1B04AFD2-7F62-5419-E6BA-5760A34D64B2}"/>
              </a:ext>
            </a:extLst>
          </p:cNvPr>
          <p:cNvSpPr/>
          <p:nvPr/>
        </p:nvSpPr>
        <p:spPr>
          <a:xfrm>
            <a:off x="4305300" y="2832100"/>
            <a:ext cx="2552700" cy="736600"/>
          </a:xfrm>
          <a:prstGeom prst="roundRect">
            <a:avLst/>
          </a:prstGeom>
          <a:solidFill>
            <a:srgbClr val="34C185"/>
          </a:solidFill>
          <a:ln w="19050" cap="flat" cmpd="sng" algn="ctr">
            <a:solidFill>
              <a:srgbClr val="1E946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1F2430"/>
                </a:solidFill>
              </a:rPr>
              <a:t>AMCAF Framework Design</a:t>
            </a:r>
          </a:p>
        </p:txBody>
      </p:sp>
      <p:sp>
        <p:nvSpPr>
          <p:cNvPr id="19" name="Rectangle: Rounded Corners 18">
            <a:extLst>
              <a:ext uri="{FF2B5EF4-FFF2-40B4-BE49-F238E27FC236}">
                <a16:creationId xmlns:a16="http://schemas.microsoft.com/office/drawing/2014/main" id="{705482FD-0E10-932A-CB7C-AB6C15B8D7B3}"/>
              </a:ext>
            </a:extLst>
          </p:cNvPr>
          <p:cNvSpPr/>
          <p:nvPr/>
        </p:nvSpPr>
        <p:spPr>
          <a:xfrm>
            <a:off x="7886700" y="5295900"/>
            <a:ext cx="2552700" cy="736600"/>
          </a:xfrm>
          <a:prstGeom prst="roundRect">
            <a:avLst/>
          </a:prstGeom>
          <a:solidFill>
            <a:srgbClr val="F4603C"/>
          </a:solidFill>
          <a:ln w="19050" cap="flat" cmpd="sng" algn="ctr">
            <a:solidFill>
              <a:srgbClr val="C43F1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1F2430"/>
                </a:solidFill>
              </a:rPr>
              <a:t>Evaluation &amp; Analysis</a:t>
            </a:r>
          </a:p>
        </p:txBody>
      </p:sp>
      <p:sp>
        <p:nvSpPr>
          <p:cNvPr id="20" name="TextBox 19">
            <a:extLst>
              <a:ext uri="{FF2B5EF4-FFF2-40B4-BE49-F238E27FC236}">
                <a16:creationId xmlns:a16="http://schemas.microsoft.com/office/drawing/2014/main" id="{66EAEFE6-F801-E9F4-B5D5-2D3B235834C2}"/>
              </a:ext>
            </a:extLst>
          </p:cNvPr>
          <p:cNvSpPr txBox="1"/>
          <p:nvPr/>
        </p:nvSpPr>
        <p:spPr>
          <a:xfrm>
            <a:off x="469900" y="2260600"/>
            <a:ext cx="3060700" cy="368300"/>
          </a:xfrm>
          <a:prstGeom prst="rect">
            <a:avLst/>
          </a:prstGeom>
          <a:noFill/>
        </p:spPr>
        <p:txBody>
          <a:bodyPr wrap="square" rtlCol="0">
            <a:spAutoFit/>
          </a:bodyPr>
          <a:lstStyle/>
          <a:p>
            <a:pPr algn="ctr"/>
            <a:r>
              <a:rPr lang="en-GB" dirty="0">
                <a:solidFill>
                  <a:schemeClr val="accent3">
                    <a:lumMod val="20000"/>
                    <a:lumOff val="80000"/>
                  </a:schemeClr>
                </a:solidFill>
              </a:rPr>
              <a:t>Planning &amp; Analysis</a:t>
            </a:r>
          </a:p>
        </p:txBody>
      </p:sp>
      <p:sp>
        <p:nvSpPr>
          <p:cNvPr id="21" name="TextBox 20">
            <a:extLst>
              <a:ext uri="{FF2B5EF4-FFF2-40B4-BE49-F238E27FC236}">
                <a16:creationId xmlns:a16="http://schemas.microsoft.com/office/drawing/2014/main" id="{3D75767C-EAAB-00FA-A475-0286E99B32E8}"/>
              </a:ext>
            </a:extLst>
          </p:cNvPr>
          <p:cNvSpPr txBox="1"/>
          <p:nvPr/>
        </p:nvSpPr>
        <p:spPr>
          <a:xfrm>
            <a:off x="4051300" y="2260600"/>
            <a:ext cx="3060700" cy="368300"/>
          </a:xfrm>
          <a:prstGeom prst="rect">
            <a:avLst/>
          </a:prstGeom>
          <a:noFill/>
        </p:spPr>
        <p:txBody>
          <a:bodyPr wrap="square" rtlCol="0">
            <a:spAutoFit/>
          </a:bodyPr>
          <a:lstStyle/>
          <a:p>
            <a:pPr algn="ctr"/>
            <a:r>
              <a:rPr lang="en-GB" dirty="0">
                <a:solidFill>
                  <a:schemeClr val="accent3">
                    <a:lumMod val="20000"/>
                    <a:lumOff val="80000"/>
                  </a:schemeClr>
                </a:solidFill>
              </a:rPr>
              <a:t>Design &amp; Implementation</a:t>
            </a:r>
          </a:p>
        </p:txBody>
      </p:sp>
      <p:sp>
        <p:nvSpPr>
          <p:cNvPr id="22" name="TextBox 21">
            <a:extLst>
              <a:ext uri="{FF2B5EF4-FFF2-40B4-BE49-F238E27FC236}">
                <a16:creationId xmlns:a16="http://schemas.microsoft.com/office/drawing/2014/main" id="{3A84A003-FD32-D2F1-7DE2-B0DD17AF21E9}"/>
              </a:ext>
            </a:extLst>
          </p:cNvPr>
          <p:cNvSpPr txBox="1"/>
          <p:nvPr/>
        </p:nvSpPr>
        <p:spPr>
          <a:xfrm>
            <a:off x="7632700" y="2260600"/>
            <a:ext cx="3060700" cy="368300"/>
          </a:xfrm>
          <a:prstGeom prst="rect">
            <a:avLst/>
          </a:prstGeom>
          <a:noFill/>
        </p:spPr>
        <p:txBody>
          <a:bodyPr wrap="square" rtlCol="0">
            <a:spAutoFit/>
          </a:bodyPr>
          <a:lstStyle/>
          <a:p>
            <a:pPr algn="ctr"/>
            <a:r>
              <a:rPr lang="en-GB" dirty="0">
                <a:solidFill>
                  <a:schemeClr val="accent3">
                    <a:lumMod val="20000"/>
                    <a:lumOff val="80000"/>
                  </a:schemeClr>
                </a:solidFill>
              </a:rPr>
              <a:t>Validation &amp; Evaluation</a:t>
            </a:r>
          </a:p>
        </p:txBody>
      </p:sp>
      <p:sp>
        <p:nvSpPr>
          <p:cNvPr id="23" name="HeaderRule 57">
            <a:extLst>
              <a:ext uri="{FF2B5EF4-FFF2-40B4-BE49-F238E27FC236}">
                <a16:creationId xmlns:a16="http://schemas.microsoft.com/office/drawing/2014/main" id="{B6EF47C0-4963-459B-A5AA-1514B6F81FE1}"/>
              </a:ext>
            </a:extLst>
          </p:cNvPr>
          <p:cNvSpPr/>
          <p:nvPr/>
        </p:nvSpPr>
        <p:spPr>
          <a:xfrm>
            <a:off x="723900" y="2679700"/>
            <a:ext cx="2552700" cy="38100"/>
          </a:xfrm>
          <a:prstGeom prst="rect">
            <a:avLst/>
          </a:prstGeom>
          <a:solidFill>
            <a:srgbClr val="F4A24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 name="HeaderRule 339">
            <a:extLst>
              <a:ext uri="{FF2B5EF4-FFF2-40B4-BE49-F238E27FC236}">
                <a16:creationId xmlns:a16="http://schemas.microsoft.com/office/drawing/2014/main" id="{ED17EC5C-39DD-48A7-A09D-37A917DBCC3C}"/>
              </a:ext>
            </a:extLst>
          </p:cNvPr>
          <p:cNvSpPr/>
          <p:nvPr/>
        </p:nvSpPr>
        <p:spPr>
          <a:xfrm>
            <a:off x="4305300" y="2679700"/>
            <a:ext cx="2552700" cy="38100"/>
          </a:xfrm>
          <a:prstGeom prst="rect">
            <a:avLst/>
          </a:prstGeom>
          <a:solidFill>
            <a:srgbClr val="34C18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 name="HeaderRule 621">
            <a:extLst>
              <a:ext uri="{FF2B5EF4-FFF2-40B4-BE49-F238E27FC236}">
                <a16:creationId xmlns:a16="http://schemas.microsoft.com/office/drawing/2014/main" id="{CAE0BC30-A1CA-406D-AFC9-25259EB49B4F}"/>
              </a:ext>
            </a:extLst>
          </p:cNvPr>
          <p:cNvSpPr/>
          <p:nvPr/>
        </p:nvSpPr>
        <p:spPr>
          <a:xfrm>
            <a:off x="7886700" y="2679700"/>
            <a:ext cx="2552700" cy="38100"/>
          </a:xfrm>
          <a:prstGeom prst="rect">
            <a:avLst/>
          </a:prstGeom>
          <a:solidFill>
            <a:srgbClr val="F4603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Tree>
    <p:extLst>
      <p:ext uri="{BB962C8B-B14F-4D97-AF65-F5344CB8AC3E}">
        <p14:creationId xmlns:p14="http://schemas.microsoft.com/office/powerpoint/2010/main" val="2242849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21824-DF00-7765-152B-704877C6734A}"/>
              </a:ext>
            </a:extLst>
          </p:cNvPr>
          <p:cNvSpPr>
            <a:spLocks noGrp="1"/>
          </p:cNvSpPr>
          <p:nvPr>
            <p:ph type="title"/>
          </p:nvPr>
        </p:nvSpPr>
        <p:spPr>
          <a:xfrm>
            <a:off x="838200" y="365125"/>
            <a:ext cx="10515600" cy="757047"/>
          </a:xfrm>
        </p:spPr>
        <p:txBody>
          <a:bodyPr/>
          <a:lstStyle/>
          <a:p>
            <a:pPr algn="ctr"/>
            <a:r>
              <a:rPr lang="en-GB" dirty="0"/>
              <a:t>AMCAF – a four-layer architecture</a:t>
            </a:r>
          </a:p>
        </p:txBody>
      </p:sp>
      <p:sp>
        <p:nvSpPr>
          <p:cNvPr id="3" name="Rectangle 2">
            <a:extLst>
              <a:ext uri="{FF2B5EF4-FFF2-40B4-BE49-F238E27FC236}">
                <a16:creationId xmlns:a16="http://schemas.microsoft.com/office/drawing/2014/main" id="{0CB23FCE-615C-A0A4-B87F-F22CF4C5A363}"/>
              </a:ext>
            </a:extLst>
          </p:cNvPr>
          <p:cNvSpPr/>
          <p:nvPr/>
        </p:nvSpPr>
        <p:spPr>
          <a:xfrm>
            <a:off x="2019300" y="2768600"/>
            <a:ext cx="7073900" cy="673100"/>
          </a:xfrm>
          <a:prstGeom prst="rect">
            <a:avLst/>
          </a:prstGeom>
          <a:solidFill>
            <a:srgbClr val="08243F"/>
          </a:solidFill>
          <a:ln w="19050" cap="flat" cmpd="sng" algn="ctr">
            <a:solidFill>
              <a:srgbClr val="2E7CC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lain"/>
            </a:pPr>
            <a:r>
              <a:rPr lang="en-GB" b="1" dirty="0"/>
              <a:t>Regulatory Interpretation</a:t>
            </a:r>
          </a:p>
          <a:p>
            <a:r>
              <a:rPr lang="en-GB" dirty="0"/>
              <a:t>        </a:t>
            </a:r>
            <a:r>
              <a:rPr lang="en-GB" sz="1400" dirty="0">
                <a:solidFill>
                  <a:schemeClr val="tx1"/>
                </a:solidFill>
              </a:rPr>
              <a:t>20 technology-neutral control objectives • 8 Domains • 10 Frameworks </a:t>
            </a:r>
          </a:p>
        </p:txBody>
      </p:sp>
      <p:sp>
        <p:nvSpPr>
          <p:cNvPr id="10" name="Rectangle 9">
            <a:extLst>
              <a:ext uri="{FF2B5EF4-FFF2-40B4-BE49-F238E27FC236}">
                <a16:creationId xmlns:a16="http://schemas.microsoft.com/office/drawing/2014/main" id="{F6E27EBC-041C-3BAB-6311-9A8B5B77B079}"/>
              </a:ext>
            </a:extLst>
          </p:cNvPr>
          <p:cNvSpPr/>
          <p:nvPr/>
        </p:nvSpPr>
        <p:spPr>
          <a:xfrm>
            <a:off x="2019300" y="1219200"/>
            <a:ext cx="7073900" cy="1117600"/>
          </a:xfrm>
          <a:prstGeom prst="rect">
            <a:avLst/>
          </a:prstGeom>
          <a:solidFill>
            <a:schemeClr val="tx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A2540"/>
              </a:solidFill>
            </a:endParaRPr>
          </a:p>
        </p:txBody>
      </p:sp>
      <p:sp>
        <p:nvSpPr>
          <p:cNvPr id="12" name="Rectangle 11">
            <a:extLst>
              <a:ext uri="{FF2B5EF4-FFF2-40B4-BE49-F238E27FC236}">
                <a16:creationId xmlns:a16="http://schemas.microsoft.com/office/drawing/2014/main" id="{A8B08CE6-92C7-1329-50CD-ACA8DF01FD7D}"/>
              </a:ext>
            </a:extLst>
          </p:cNvPr>
          <p:cNvSpPr/>
          <p:nvPr/>
        </p:nvSpPr>
        <p:spPr>
          <a:xfrm>
            <a:off x="2019300" y="3733800"/>
            <a:ext cx="7073900" cy="673100"/>
          </a:xfrm>
          <a:prstGeom prst="rect">
            <a:avLst/>
          </a:prstGeom>
          <a:solidFill>
            <a:srgbClr val="12518C"/>
          </a:solidFill>
          <a:ln w="19050" cap="flat" cmpd="sng" algn="ctr">
            <a:solidFill>
              <a:srgbClr val="3E8FD4"/>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2     Cross-Cloud Mapping</a:t>
            </a:r>
          </a:p>
          <a:p>
            <a:r>
              <a:rPr lang="en-GB" dirty="0"/>
              <a:t>        </a:t>
            </a:r>
            <a:r>
              <a:rPr lang="en-GB" sz="1400" dirty="0">
                <a:solidFill>
                  <a:schemeClr val="tx1"/>
                </a:solidFill>
              </a:rPr>
              <a:t>Functional equivalence – same objective, provider-appropriate mechanism</a:t>
            </a:r>
          </a:p>
        </p:txBody>
      </p:sp>
      <p:sp>
        <p:nvSpPr>
          <p:cNvPr id="14" name="Rectangle 13">
            <a:extLst>
              <a:ext uri="{FF2B5EF4-FFF2-40B4-BE49-F238E27FC236}">
                <a16:creationId xmlns:a16="http://schemas.microsoft.com/office/drawing/2014/main" id="{27024246-F649-1EF4-A116-22F20978D187}"/>
              </a:ext>
            </a:extLst>
          </p:cNvPr>
          <p:cNvSpPr/>
          <p:nvPr/>
        </p:nvSpPr>
        <p:spPr>
          <a:xfrm>
            <a:off x="2019300" y="4699000"/>
            <a:ext cx="7073900" cy="673100"/>
          </a:xfrm>
          <a:prstGeom prst="rect">
            <a:avLst/>
          </a:prstGeom>
          <a:solidFill>
            <a:srgbClr val="1A69AB"/>
          </a:solidFill>
          <a:ln w="19050" cap="flat" cmpd="sng" algn="ctr">
            <a:solidFill>
              <a:srgbClr val="5AA6E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3     Validation Logic</a:t>
            </a:r>
          </a:p>
          <a:p>
            <a:r>
              <a:rPr lang="en-GB" dirty="0"/>
              <a:t>        </a:t>
            </a:r>
            <a:r>
              <a:rPr lang="en-GB" sz="1400" dirty="0">
                <a:solidFill>
                  <a:schemeClr val="tx1"/>
                </a:solidFill>
              </a:rPr>
              <a:t>Rule-based validation engine with fully traceable decisions</a:t>
            </a:r>
          </a:p>
        </p:txBody>
      </p:sp>
      <p:sp>
        <p:nvSpPr>
          <p:cNvPr id="16" name="Rectangle 15">
            <a:extLst>
              <a:ext uri="{FF2B5EF4-FFF2-40B4-BE49-F238E27FC236}">
                <a16:creationId xmlns:a16="http://schemas.microsoft.com/office/drawing/2014/main" id="{0816A15D-0C1A-E968-3886-FEEC7F74FAA0}"/>
              </a:ext>
            </a:extLst>
          </p:cNvPr>
          <p:cNvSpPr/>
          <p:nvPr/>
        </p:nvSpPr>
        <p:spPr>
          <a:xfrm>
            <a:off x="2019300" y="5664200"/>
            <a:ext cx="7073900" cy="673100"/>
          </a:xfrm>
          <a:prstGeom prst="rect">
            <a:avLst/>
          </a:prstGeom>
          <a:solidFill>
            <a:srgbClr val="2478B4"/>
          </a:solidFill>
          <a:ln w="19050" cap="flat" cmpd="sng" algn="ctr">
            <a:solidFill>
              <a:srgbClr val="7CBCE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lain" startAt="4"/>
            </a:pPr>
            <a:r>
              <a:rPr lang="en-GB" b="1" dirty="0">
                <a:solidFill>
                  <a:srgbClr val="FFFFFF"/>
                </a:solidFill>
              </a:rPr>
              <a:t>Reporting, Evidence &amp; Dashboards</a:t>
            </a:r>
          </a:p>
          <a:p>
            <a:r>
              <a:rPr lang="en-GB" dirty="0">
                <a:solidFill>
                  <a:srgbClr val="FFFFFF"/>
                </a:solidFill>
              </a:rPr>
              <a:t>        </a:t>
            </a:r>
            <a:r>
              <a:rPr lang="en-GB" sz="1400" dirty="0">
                <a:solidFill>
                  <a:srgbClr val="FFFFFF"/>
                </a:solidFill>
              </a:rPr>
              <a:t>Audit-ready evidence and executive dashboards</a:t>
            </a:r>
          </a:p>
        </p:txBody>
      </p:sp>
      <p:sp>
        <p:nvSpPr>
          <p:cNvPr id="18" name="TextBox 17">
            <a:extLst>
              <a:ext uri="{FF2B5EF4-FFF2-40B4-BE49-F238E27FC236}">
                <a16:creationId xmlns:a16="http://schemas.microsoft.com/office/drawing/2014/main" id="{80BAC2E1-C1B2-587E-733E-898B48712332}"/>
              </a:ext>
            </a:extLst>
          </p:cNvPr>
          <p:cNvSpPr txBox="1"/>
          <p:nvPr/>
        </p:nvSpPr>
        <p:spPr>
          <a:xfrm>
            <a:off x="2463800" y="1257300"/>
            <a:ext cx="6184900" cy="279400"/>
          </a:xfrm>
          <a:prstGeom prst="rect">
            <a:avLst/>
          </a:prstGeom>
          <a:noFill/>
        </p:spPr>
        <p:txBody>
          <a:bodyPr wrap="square" rtlCol="0">
            <a:spAutoFit/>
          </a:bodyPr>
          <a:lstStyle/>
          <a:p>
            <a:pPr algn="ctr"/>
            <a:r>
              <a:rPr lang="en-GB" b="1" dirty="0">
                <a:solidFill>
                  <a:schemeClr val="bg1"/>
                </a:solidFill>
              </a:rPr>
              <a:t>Cloud Data Sources</a:t>
            </a:r>
          </a:p>
        </p:txBody>
      </p:sp>
      <p:sp>
        <p:nvSpPr>
          <p:cNvPr id="19" name="Rectangle: Rounded Corners 18">
            <a:extLst>
              <a:ext uri="{FF2B5EF4-FFF2-40B4-BE49-F238E27FC236}">
                <a16:creationId xmlns:a16="http://schemas.microsoft.com/office/drawing/2014/main" id="{D8AB968C-6F8D-33A6-403F-987E767153E6}"/>
              </a:ext>
            </a:extLst>
          </p:cNvPr>
          <p:cNvSpPr/>
          <p:nvPr/>
        </p:nvSpPr>
        <p:spPr>
          <a:xfrm>
            <a:off x="2171700" y="1600200"/>
            <a:ext cx="2159000" cy="660400"/>
          </a:xfrm>
          <a:prstGeom prst="roundRect">
            <a:avLst/>
          </a:prstGeom>
          <a:solidFill>
            <a:srgbClr val="A85F00"/>
          </a:solidFill>
          <a:ln w="19050" cap="flat" cmpd="sng" algn="ctr">
            <a:solidFill>
              <a:srgbClr val="FFC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FF"/>
                </a:solidFill>
              </a:rPr>
              <a:t>AWS</a:t>
            </a:r>
          </a:p>
          <a:p>
            <a:pPr algn="ctr"/>
            <a:r>
              <a:rPr lang="en-GB" dirty="0">
                <a:solidFill>
                  <a:srgbClr val="FFFFFF"/>
                </a:solidFill>
              </a:rPr>
              <a:t>boto3 SDK</a:t>
            </a:r>
          </a:p>
        </p:txBody>
      </p:sp>
      <p:sp>
        <p:nvSpPr>
          <p:cNvPr id="21" name="Rectangle: Rounded Corners 20">
            <a:extLst>
              <a:ext uri="{FF2B5EF4-FFF2-40B4-BE49-F238E27FC236}">
                <a16:creationId xmlns:a16="http://schemas.microsoft.com/office/drawing/2014/main" id="{07AB02EC-CE3E-1E69-EF50-05FC2CBBAB50}"/>
              </a:ext>
            </a:extLst>
          </p:cNvPr>
          <p:cNvSpPr/>
          <p:nvPr/>
        </p:nvSpPr>
        <p:spPr>
          <a:xfrm>
            <a:off x="4476750" y="1600200"/>
            <a:ext cx="2159000" cy="660400"/>
          </a:xfrm>
          <a:prstGeom prst="roundRect">
            <a:avLst/>
          </a:prstGeom>
          <a:solidFill>
            <a:srgbClr val="1F5FA8"/>
          </a:solidFill>
          <a:ln w="19050" cap="flat" cmpd="sng" algn="ctr">
            <a:solidFill>
              <a:srgbClr val="4FCE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FF"/>
                </a:solidFill>
              </a:rPr>
              <a:t>Azure / Entra</a:t>
            </a:r>
          </a:p>
          <a:p>
            <a:pPr algn="ctr"/>
            <a:r>
              <a:rPr lang="en-GB" dirty="0">
                <a:solidFill>
                  <a:srgbClr val="FFFFFF"/>
                </a:solidFill>
              </a:rPr>
              <a:t>Microsoft Graph</a:t>
            </a:r>
          </a:p>
        </p:txBody>
      </p:sp>
      <p:sp>
        <p:nvSpPr>
          <p:cNvPr id="23" name="Rectangle: Rounded Corners 22">
            <a:extLst>
              <a:ext uri="{FF2B5EF4-FFF2-40B4-BE49-F238E27FC236}">
                <a16:creationId xmlns:a16="http://schemas.microsoft.com/office/drawing/2014/main" id="{F6F418C5-CB3A-47C0-7177-F77CA9AD2BCF}"/>
              </a:ext>
            </a:extLst>
          </p:cNvPr>
          <p:cNvSpPr/>
          <p:nvPr/>
        </p:nvSpPr>
        <p:spPr>
          <a:xfrm>
            <a:off x="6781800" y="1600200"/>
            <a:ext cx="2159000" cy="660400"/>
          </a:xfrm>
          <a:prstGeom prst="roundRect">
            <a:avLst/>
          </a:prstGeom>
          <a:solidFill>
            <a:srgbClr val="3F7318"/>
          </a:solidFill>
          <a:ln w="19050" cap="flat" cmpd="sng" algn="ctr">
            <a:solidFill>
              <a:srgbClr val="55A83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FF"/>
                </a:solidFill>
              </a:rPr>
              <a:t>GCP</a:t>
            </a:r>
          </a:p>
          <a:p>
            <a:pPr algn="ctr"/>
            <a:r>
              <a:rPr lang="en-GB" dirty="0">
                <a:solidFill>
                  <a:srgbClr val="FFFFFF"/>
                </a:solidFill>
              </a:rPr>
              <a:t>Cloud SDK</a:t>
            </a:r>
          </a:p>
        </p:txBody>
      </p:sp>
      <p:sp>
        <p:nvSpPr>
          <p:cNvPr id="32" name="Arrow: Down 31">
            <a:extLst>
              <a:ext uri="{FF2B5EF4-FFF2-40B4-BE49-F238E27FC236}">
                <a16:creationId xmlns:a16="http://schemas.microsoft.com/office/drawing/2014/main" id="{27036814-328A-ACE6-1133-A5DD00C947BA}"/>
              </a:ext>
            </a:extLst>
          </p:cNvPr>
          <p:cNvSpPr/>
          <p:nvPr/>
        </p:nvSpPr>
        <p:spPr>
          <a:xfrm>
            <a:off x="5334000" y="2413000"/>
            <a:ext cx="444500" cy="279400"/>
          </a:xfrm>
          <a:prstGeom prst="downArrow">
            <a:avLst/>
          </a:prstGeom>
          <a:solidFill>
            <a:srgbClr val="1F5FA8"/>
          </a:solidFill>
          <a:ln w="19050" cap="flat" cmpd="sng" algn="ctr">
            <a:solidFill>
              <a:srgbClr val="4FCEFF"/>
            </a:solidFill>
            <a:prstDash val="solid"/>
            <a:miter lim="800000"/>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34" name="Arrow: Down 33">
            <a:extLst>
              <a:ext uri="{FF2B5EF4-FFF2-40B4-BE49-F238E27FC236}">
                <a16:creationId xmlns:a16="http://schemas.microsoft.com/office/drawing/2014/main" id="{0B1F7912-202B-1AEC-B8DE-D4FDB17FEA5D}"/>
              </a:ext>
            </a:extLst>
          </p:cNvPr>
          <p:cNvSpPr/>
          <p:nvPr/>
        </p:nvSpPr>
        <p:spPr>
          <a:xfrm>
            <a:off x="7639050" y="2413000"/>
            <a:ext cx="444500" cy="279400"/>
          </a:xfrm>
          <a:prstGeom prst="downArrow">
            <a:avLst/>
          </a:prstGeom>
          <a:solidFill>
            <a:srgbClr val="3F7318"/>
          </a:solidFill>
          <a:ln w="19050" cap="flat" cmpd="sng" algn="ctr">
            <a:solidFill>
              <a:srgbClr val="55A839"/>
            </a:solidFill>
            <a:prstDash val="solid"/>
            <a:miter lim="800000"/>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36" name="Arrow: Down 35">
            <a:extLst>
              <a:ext uri="{FF2B5EF4-FFF2-40B4-BE49-F238E27FC236}">
                <a16:creationId xmlns:a16="http://schemas.microsoft.com/office/drawing/2014/main" id="{EA73D62A-8C16-39B1-39F3-07CF4C0D1D7F}"/>
              </a:ext>
            </a:extLst>
          </p:cNvPr>
          <p:cNvSpPr/>
          <p:nvPr/>
        </p:nvSpPr>
        <p:spPr>
          <a:xfrm>
            <a:off x="3028950" y="2413000"/>
            <a:ext cx="444500" cy="279400"/>
          </a:xfrm>
          <a:prstGeom prst="downArrow">
            <a:avLst/>
          </a:prstGeom>
          <a:solidFill>
            <a:srgbClr val="A85F00"/>
          </a:solidFill>
          <a:ln w="19050" cap="flat" cmpd="sng" algn="ctr">
            <a:solidFill>
              <a:srgbClr val="FFC000"/>
            </a:solidFill>
            <a:prstDash val="solid"/>
            <a:miter lim="800000"/>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68877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3F373-C6C6-58DF-C5A6-4E254232485E}"/>
              </a:ext>
            </a:extLst>
          </p:cNvPr>
          <p:cNvSpPr>
            <a:spLocks noGrp="1"/>
          </p:cNvSpPr>
          <p:nvPr>
            <p:ph type="title"/>
          </p:nvPr>
        </p:nvSpPr>
        <p:spPr>
          <a:xfrm>
            <a:off x="627888" y="337693"/>
            <a:ext cx="3294888" cy="485267"/>
          </a:xfrm>
        </p:spPr>
        <p:txBody>
          <a:bodyPr>
            <a:normAutofit fontScale="90000"/>
          </a:bodyPr>
          <a:lstStyle/>
          <a:p>
            <a:r>
              <a:rPr lang="en-GB" sz="2000" dirty="0"/>
              <a:t>Implementation and evaluation</a:t>
            </a:r>
          </a:p>
        </p:txBody>
      </p:sp>
      <p:sp>
        <p:nvSpPr>
          <p:cNvPr id="3" name="TextBox 2">
            <a:extLst>
              <a:ext uri="{FF2B5EF4-FFF2-40B4-BE49-F238E27FC236}">
                <a16:creationId xmlns:a16="http://schemas.microsoft.com/office/drawing/2014/main" id="{B78EABB8-3A3A-76B3-8014-2AF08870FF2E}"/>
              </a:ext>
            </a:extLst>
          </p:cNvPr>
          <p:cNvSpPr txBox="1"/>
          <p:nvPr/>
        </p:nvSpPr>
        <p:spPr>
          <a:xfrm>
            <a:off x="627888" y="1042416"/>
            <a:ext cx="11051082" cy="523220"/>
          </a:xfrm>
          <a:prstGeom prst="rect">
            <a:avLst/>
          </a:prstGeom>
          <a:noFill/>
        </p:spPr>
        <p:txBody>
          <a:bodyPr wrap="square" rtlCol="0">
            <a:spAutoFit/>
          </a:bodyPr>
          <a:lstStyle/>
          <a:p>
            <a:r>
              <a:rPr lang="en-GB" sz="2800" dirty="0"/>
              <a:t>Live across 3 clouds; synthetic testing produced zero false positives</a:t>
            </a:r>
          </a:p>
        </p:txBody>
      </p:sp>
      <p:sp>
        <p:nvSpPr>
          <p:cNvPr id="5" name="Rectangle: Top Corners Rounded 4">
            <a:extLst>
              <a:ext uri="{FF2B5EF4-FFF2-40B4-BE49-F238E27FC236}">
                <a16:creationId xmlns:a16="http://schemas.microsoft.com/office/drawing/2014/main" id="{FF133478-117B-D611-834A-0CAC5A26746F}"/>
              </a:ext>
            </a:extLst>
          </p:cNvPr>
          <p:cNvSpPr/>
          <p:nvPr/>
        </p:nvSpPr>
        <p:spPr>
          <a:xfrm>
            <a:off x="731520" y="2020824"/>
            <a:ext cx="3191256" cy="978408"/>
          </a:xfrm>
          <a:prstGeom prst="round2SameRect">
            <a:avLst/>
          </a:prstGeom>
          <a:ln>
            <a:solidFill>
              <a:srgbClr val="3AC818"/>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GB" sz="3200" b="1" dirty="0">
                <a:solidFill>
                  <a:srgbClr val="00B050"/>
                </a:solidFill>
              </a:rPr>
              <a:t>719</a:t>
            </a:r>
          </a:p>
          <a:p>
            <a:pPr algn="ctr"/>
            <a:r>
              <a:rPr lang="en-GB" sz="1200" dirty="0">
                <a:solidFill>
                  <a:srgbClr val="00B050"/>
                </a:solidFill>
              </a:rPr>
              <a:t>Live checks </a:t>
            </a:r>
            <a:r>
              <a:rPr lang="en-GB" sz="1200">
                <a:solidFill>
                  <a:srgbClr val="00B050"/>
                </a:solidFill>
              </a:rPr>
              <a:t>across 70 </a:t>
            </a:r>
            <a:r>
              <a:rPr lang="en-GB" sz="1200" dirty="0">
                <a:solidFill>
                  <a:srgbClr val="00B050"/>
                </a:solidFill>
              </a:rPr>
              <a:t>ledger runs </a:t>
            </a:r>
          </a:p>
          <a:p>
            <a:pPr algn="ctr"/>
            <a:r>
              <a:rPr lang="en-GB" sz="1200" dirty="0">
                <a:solidFill>
                  <a:srgbClr val="00B050"/>
                </a:solidFill>
              </a:rPr>
              <a:t>14</a:t>
            </a:r>
            <a:r>
              <a:rPr lang="en-GB" sz="1200" baseline="30000" dirty="0">
                <a:solidFill>
                  <a:srgbClr val="00B050"/>
                </a:solidFill>
              </a:rPr>
              <a:t>th</a:t>
            </a:r>
            <a:r>
              <a:rPr lang="en-GB" sz="1200" dirty="0">
                <a:solidFill>
                  <a:srgbClr val="00B050"/>
                </a:solidFill>
              </a:rPr>
              <a:t> May – 7</a:t>
            </a:r>
            <a:r>
              <a:rPr lang="en-GB" sz="1200" baseline="30000" dirty="0">
                <a:solidFill>
                  <a:srgbClr val="00B050"/>
                </a:solidFill>
              </a:rPr>
              <a:t>th</a:t>
            </a:r>
            <a:r>
              <a:rPr lang="en-GB" sz="1200" dirty="0">
                <a:solidFill>
                  <a:srgbClr val="00B050"/>
                </a:solidFill>
              </a:rPr>
              <a:t> June</a:t>
            </a:r>
          </a:p>
        </p:txBody>
      </p:sp>
      <p:sp>
        <p:nvSpPr>
          <p:cNvPr id="7" name="Rectangle: Top Corners Rounded 6">
            <a:extLst>
              <a:ext uri="{FF2B5EF4-FFF2-40B4-BE49-F238E27FC236}">
                <a16:creationId xmlns:a16="http://schemas.microsoft.com/office/drawing/2014/main" id="{ADB77442-0BFD-7AA5-9D6E-C3231E4C26C4}"/>
              </a:ext>
            </a:extLst>
          </p:cNvPr>
          <p:cNvSpPr/>
          <p:nvPr/>
        </p:nvSpPr>
        <p:spPr>
          <a:xfrm>
            <a:off x="8418576" y="2020824"/>
            <a:ext cx="3191256" cy="978408"/>
          </a:xfrm>
          <a:prstGeom prst="round2SameRect">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dirty="0">
                <a:solidFill>
                  <a:schemeClr val="accent1">
                    <a:lumMod val="75000"/>
                  </a:schemeClr>
                </a:solidFill>
              </a:rPr>
              <a:t>10</a:t>
            </a:r>
          </a:p>
          <a:p>
            <a:pPr algn="ctr"/>
            <a:r>
              <a:rPr lang="en-GB" sz="1200" dirty="0">
                <a:solidFill>
                  <a:schemeClr val="accent1">
                    <a:lumMod val="75000"/>
                  </a:schemeClr>
                </a:solidFill>
              </a:rPr>
              <a:t>Regulatory frameworks traced in every single finding</a:t>
            </a:r>
          </a:p>
        </p:txBody>
      </p:sp>
      <p:sp>
        <p:nvSpPr>
          <p:cNvPr id="9" name="Rectangle: Top Corners Rounded 8">
            <a:extLst>
              <a:ext uri="{FF2B5EF4-FFF2-40B4-BE49-F238E27FC236}">
                <a16:creationId xmlns:a16="http://schemas.microsoft.com/office/drawing/2014/main" id="{F34A3E2B-5D1A-510F-D396-65EA7F1BA83E}"/>
              </a:ext>
            </a:extLst>
          </p:cNvPr>
          <p:cNvSpPr/>
          <p:nvPr/>
        </p:nvSpPr>
        <p:spPr>
          <a:xfrm>
            <a:off x="4575048" y="2025396"/>
            <a:ext cx="3191256" cy="978408"/>
          </a:xfrm>
          <a:prstGeom prst="round2Same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GB" sz="3200" dirty="0">
                <a:solidFill>
                  <a:srgbClr val="C00000"/>
                </a:solidFill>
              </a:rPr>
              <a:t>0</a:t>
            </a:r>
          </a:p>
          <a:p>
            <a:pPr algn="ctr"/>
            <a:r>
              <a:rPr lang="en-GB" sz="1200" dirty="0">
                <a:solidFill>
                  <a:srgbClr val="C00000"/>
                </a:solidFill>
              </a:rPr>
              <a:t>False positives across 320 checks in 8 synthetic scenarios</a:t>
            </a:r>
          </a:p>
        </p:txBody>
      </p:sp>
      <p:graphicFrame>
        <p:nvGraphicFramePr>
          <p:cNvPr id="101" name="Chart 1"/>
          <p:cNvGraphicFramePr/>
          <p:nvPr>
            <p:extLst>
              <p:ext uri="{D42A27DB-BD31-4B8C-83A1-F6EECF244321}">
                <p14:modId xmlns:p14="http://schemas.microsoft.com/office/powerpoint/2010/main" val="1114820188"/>
              </p:ext>
            </p:extLst>
          </p:nvPr>
        </p:nvGraphicFramePr>
        <p:xfrm>
          <a:off x="736600" y="3276600"/>
          <a:ext cx="4991100" cy="2692400"/>
        </p:xfrm>
        <a:graphic>
          <a:graphicData uri="http://schemas.openxmlformats.org/drawingml/2006/chart">
            <c:chart xmlns:c="http://schemas.openxmlformats.org/drawingml/2006/chart" xmlns:r="http://schemas.openxmlformats.org/officeDocument/2006/relationships" r:id="rId3"/>
          </a:graphicData>
        </a:graphic>
      </p:graphicFrame>
      <p:sp>
        <p:nvSpPr>
          <p:cNvPr id="150" name="Chart Footnote"/>
          <p:cNvSpPr txBox="1"/>
          <p:nvPr/>
        </p:nvSpPr>
        <p:spPr>
          <a:xfrm>
            <a:off x="736600" y="6070600"/>
            <a:ext cx="4991100" cy="215444"/>
          </a:xfrm>
          <a:prstGeom prst="rect">
            <a:avLst/>
          </a:prstGeom>
          <a:noFill/>
        </p:spPr>
        <p:txBody>
          <a:bodyPr wrap="square" lIns="0" tIns="0" rIns="0" bIns="0">
            <a:spAutoFit/>
          </a:bodyPr>
          <a:lstStyle/>
          <a:p>
            <a:pPr algn="l">
              <a:buNone/>
            </a:pPr>
            <a:r>
              <a:rPr lang="en-US" sz="1400" i="1" dirty="0">
                <a:solidFill>
                  <a:srgbClr val="C7D3E3"/>
                </a:solidFill>
              </a:rPr>
              <a:t>Post NET-03 enhancement, 6 June 2026</a:t>
            </a:r>
          </a:p>
        </p:txBody>
      </p:sp>
    </p:spTree>
    <p:extLst>
      <p:ext uri="{BB962C8B-B14F-4D97-AF65-F5344CB8AC3E}">
        <p14:creationId xmlns:p14="http://schemas.microsoft.com/office/powerpoint/2010/main" val="3486528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10896"/>
            <a:ext cx="10881360" cy="685800"/>
          </a:xfrm>
        </p:spPr>
        <p:txBody>
          <a:bodyPr wrap="square"/>
          <a:lstStyle/>
          <a:p>
            <a:r>
              <a:rPr sz="3200" b="0">
                <a:solidFill>
                  <a:srgbClr val="FFFFFF"/>
                </a:solidFill>
              </a:rPr>
              <a:t>NET-03 — one control, three clouds, live</a:t>
            </a:r>
          </a:p>
        </p:txBody>
      </p:sp>
      <p:sp>
        <p:nvSpPr>
          <p:cNvPr id="3" name="Rectangle 2"/>
          <p:cNvSpPr/>
          <p:nvPr/>
        </p:nvSpPr>
        <p:spPr>
          <a:xfrm>
            <a:off x="685800" y="1060704"/>
            <a:ext cx="10881360" cy="20320"/>
          </a:xfrm>
          <a:prstGeom prst="rect">
            <a:avLst/>
          </a:prstGeom>
          <a:solidFill>
            <a:srgbClr val="2E7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670048" y="1389888"/>
            <a:ext cx="2029968" cy="457200"/>
          </a:xfrm>
          <a:prstGeom prst="roundRect">
            <a:avLst>
              <a:gd name="adj" fmla="val 16000"/>
            </a:avLst>
          </a:prstGeom>
          <a:solidFill>
            <a:srgbClr val="08243F"/>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250" b="1">
                <a:solidFill>
                  <a:srgbClr val="FFFFFF"/>
                </a:solidFill>
              </a:rPr>
              <a:t>1  INJECT</a:t>
            </a:r>
          </a:p>
        </p:txBody>
      </p:sp>
      <p:sp>
        <p:nvSpPr>
          <p:cNvPr id="5" name="Rounded Rectangle 4"/>
          <p:cNvSpPr/>
          <p:nvPr/>
        </p:nvSpPr>
        <p:spPr>
          <a:xfrm>
            <a:off x="4956048" y="1389888"/>
            <a:ext cx="2029968" cy="457200"/>
          </a:xfrm>
          <a:prstGeom prst="roundRect">
            <a:avLst>
              <a:gd name="adj" fmla="val 16000"/>
            </a:avLst>
          </a:prstGeom>
          <a:solidFill>
            <a:srgbClr val="08243F"/>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250" b="1">
                <a:solidFill>
                  <a:srgbClr val="FFFFFF"/>
                </a:solidFill>
              </a:rPr>
              <a:t>2  DETECT</a:t>
            </a:r>
          </a:p>
        </p:txBody>
      </p:sp>
      <p:sp>
        <p:nvSpPr>
          <p:cNvPr id="6" name="Rounded Rectangle 5"/>
          <p:cNvSpPr/>
          <p:nvPr/>
        </p:nvSpPr>
        <p:spPr>
          <a:xfrm>
            <a:off x="7242048" y="1389888"/>
            <a:ext cx="2029968" cy="457200"/>
          </a:xfrm>
          <a:prstGeom prst="roundRect">
            <a:avLst>
              <a:gd name="adj" fmla="val 16000"/>
            </a:avLst>
          </a:prstGeom>
          <a:solidFill>
            <a:srgbClr val="08243F"/>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250" b="1">
                <a:solidFill>
                  <a:srgbClr val="FFFFFF"/>
                </a:solidFill>
              </a:rPr>
              <a:t>3  REMEDIATE</a:t>
            </a:r>
          </a:p>
        </p:txBody>
      </p:sp>
      <p:sp>
        <p:nvSpPr>
          <p:cNvPr id="7" name="Rounded Rectangle 6"/>
          <p:cNvSpPr/>
          <p:nvPr/>
        </p:nvSpPr>
        <p:spPr>
          <a:xfrm>
            <a:off x="9528048" y="1389888"/>
            <a:ext cx="2029968" cy="457200"/>
          </a:xfrm>
          <a:prstGeom prst="roundRect">
            <a:avLst>
              <a:gd name="adj" fmla="val 16000"/>
            </a:avLst>
          </a:prstGeom>
          <a:solidFill>
            <a:srgbClr val="08243F"/>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250" b="1">
                <a:solidFill>
                  <a:srgbClr val="FFFFFF"/>
                </a:solidFill>
              </a:rPr>
              <a:t>4  RE-VALIDATE</a:t>
            </a:r>
          </a:p>
        </p:txBody>
      </p:sp>
      <p:sp>
        <p:nvSpPr>
          <p:cNvPr id="8" name="Rounded Rectangle 7"/>
          <p:cNvSpPr/>
          <p:nvPr/>
        </p:nvSpPr>
        <p:spPr>
          <a:xfrm>
            <a:off x="685800" y="2084831"/>
            <a:ext cx="1783080" cy="749808"/>
          </a:xfrm>
          <a:prstGeom prst="roundRect">
            <a:avLst>
              <a:gd name="adj" fmla="val 16000"/>
            </a:avLst>
          </a:prstGeom>
          <a:solidFill>
            <a:srgbClr val="A85F00"/>
          </a:solidFill>
          <a:ln w="19050">
            <a:solidFill>
              <a:srgbClr val="FFC000"/>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400" b="1">
                <a:solidFill>
                  <a:srgbClr val="FFFFFF"/>
                </a:solidFill>
              </a:rPr>
              <a:t>AWS</a:t>
            </a:r>
          </a:p>
        </p:txBody>
      </p:sp>
      <p:sp>
        <p:nvSpPr>
          <p:cNvPr id="9" name="Rounded Rectangle 8"/>
          <p:cNvSpPr/>
          <p:nvPr/>
        </p:nvSpPr>
        <p:spPr>
          <a:xfrm>
            <a:off x="2670048" y="2084831"/>
            <a:ext cx="2029968" cy="749808"/>
          </a:xfrm>
          <a:prstGeom prst="roundRect">
            <a:avLst>
              <a:gd name="adj" fmla="val 16000"/>
            </a:avLst>
          </a:prstGeom>
          <a:solidFill>
            <a:srgbClr val="0E3559"/>
          </a:solidFill>
          <a:ln w="12700">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lang="en-GB" sz="1050" dirty="0">
                <a:solidFill>
                  <a:srgbClr val="C7D3E3"/>
                </a:solidFill>
              </a:rPr>
              <a:t>test SG rule — TCP 3306 (MySQL) open to 0.0.0.0/0</a:t>
            </a:r>
          </a:p>
        </p:txBody>
      </p:sp>
      <p:sp>
        <p:nvSpPr>
          <p:cNvPr id="10" name="Rounded Rectangle 9"/>
          <p:cNvSpPr/>
          <p:nvPr/>
        </p:nvSpPr>
        <p:spPr>
          <a:xfrm>
            <a:off x="4956048" y="2084831"/>
            <a:ext cx="2029968" cy="749808"/>
          </a:xfrm>
          <a:prstGeom prst="roundRect">
            <a:avLst>
              <a:gd name="adj" fmla="val 16000"/>
            </a:avLst>
          </a:prstGeom>
          <a:solidFill>
            <a:srgbClr val="F4603C"/>
          </a:solidFill>
          <a:ln w="19050">
            <a:solidFill>
              <a:srgbClr val="C43F1E"/>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lang="en-GB" b="1" dirty="0">
                <a:solidFill>
                  <a:srgbClr val="1F2430"/>
                </a:solidFill>
              </a:rPr>
              <a:t>FAIL</a:t>
            </a:r>
          </a:p>
          <a:p>
            <a:pPr algn="ctr">
              <a:spcBef>
                <a:spcPts val="100"/>
              </a:spcBef>
            </a:pPr>
            <a:r>
              <a:rPr lang="en-GB" sz="1100" dirty="0">
                <a:solidFill>
                  <a:srgbClr val="1F2430"/>
                </a:solidFill>
              </a:rPr>
              <a:t>63%</a:t>
            </a:r>
          </a:p>
        </p:txBody>
      </p:sp>
      <p:sp>
        <p:nvSpPr>
          <p:cNvPr id="11" name="Rounded Rectangle 10"/>
          <p:cNvSpPr/>
          <p:nvPr/>
        </p:nvSpPr>
        <p:spPr>
          <a:xfrm>
            <a:off x="7242048" y="2084831"/>
            <a:ext cx="2029968" cy="749808"/>
          </a:xfrm>
          <a:prstGeom prst="roundRect">
            <a:avLst>
              <a:gd name="adj" fmla="val 16000"/>
            </a:avLst>
          </a:prstGeom>
          <a:solidFill>
            <a:srgbClr val="0E3559"/>
          </a:solidFill>
          <a:ln w="12700">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050" b="0">
                <a:solidFill>
                  <a:srgbClr val="C7D3E3"/>
                </a:solidFill>
              </a:rPr>
              <a:t>security group rule removed</a:t>
            </a:r>
          </a:p>
        </p:txBody>
      </p:sp>
      <p:sp>
        <p:nvSpPr>
          <p:cNvPr id="12" name="Rounded Rectangle 11"/>
          <p:cNvSpPr/>
          <p:nvPr/>
        </p:nvSpPr>
        <p:spPr>
          <a:xfrm>
            <a:off x="9528048" y="2084831"/>
            <a:ext cx="2029968" cy="749808"/>
          </a:xfrm>
          <a:prstGeom prst="roundRect">
            <a:avLst>
              <a:gd name="adj" fmla="val 16000"/>
            </a:avLst>
          </a:prstGeom>
          <a:solidFill>
            <a:srgbClr val="34C185"/>
          </a:solidFill>
          <a:ln w="19050">
            <a:solidFill>
              <a:srgbClr val="1E9463"/>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endParaRPr lang="en-GB" sz="1700" b="1" dirty="0">
              <a:solidFill>
                <a:srgbClr val="1F2430"/>
              </a:solidFill>
            </a:endParaRPr>
          </a:p>
          <a:p>
            <a:pPr algn="ctr"/>
            <a:r>
              <a:rPr sz="1700" b="1" dirty="0">
                <a:solidFill>
                  <a:srgbClr val="1F2430"/>
                </a:solidFill>
              </a:rPr>
              <a:t>PASS</a:t>
            </a:r>
            <a:endParaRPr lang="en-GB" sz="1700" b="1" dirty="0">
              <a:solidFill>
                <a:srgbClr val="1F2430"/>
              </a:solidFill>
            </a:endParaRPr>
          </a:p>
          <a:p>
            <a:pPr algn="ctr"/>
            <a:r>
              <a:rPr lang="en-GB" sz="1000" dirty="0">
                <a:solidFill>
                  <a:srgbClr val="1F2430"/>
                </a:solidFill>
              </a:rPr>
              <a:t>72%</a:t>
            </a:r>
          </a:p>
          <a:p>
            <a:pPr algn="ctr"/>
            <a:endParaRPr sz="1700" b="1" dirty="0">
              <a:solidFill>
                <a:srgbClr val="1F2430"/>
              </a:solidFill>
            </a:endParaRPr>
          </a:p>
        </p:txBody>
      </p:sp>
      <p:sp>
        <p:nvSpPr>
          <p:cNvPr id="13" name="Rounded Rectangle 12"/>
          <p:cNvSpPr/>
          <p:nvPr/>
        </p:nvSpPr>
        <p:spPr>
          <a:xfrm>
            <a:off x="685800" y="2944368"/>
            <a:ext cx="1783080" cy="749808"/>
          </a:xfrm>
          <a:prstGeom prst="roundRect">
            <a:avLst>
              <a:gd name="adj" fmla="val 16000"/>
            </a:avLst>
          </a:prstGeom>
          <a:solidFill>
            <a:srgbClr val="1F5FA8"/>
          </a:solidFill>
          <a:ln w="19050">
            <a:solidFill>
              <a:srgbClr val="5AA6E0"/>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400" b="1">
                <a:solidFill>
                  <a:srgbClr val="FFFFFF"/>
                </a:solidFill>
              </a:rPr>
              <a:t>Azure / Entra</a:t>
            </a:r>
          </a:p>
        </p:txBody>
      </p:sp>
      <p:sp>
        <p:nvSpPr>
          <p:cNvPr id="14" name="Rounded Rectangle 13"/>
          <p:cNvSpPr/>
          <p:nvPr/>
        </p:nvSpPr>
        <p:spPr>
          <a:xfrm>
            <a:off x="2670048" y="2944368"/>
            <a:ext cx="2029968" cy="749808"/>
          </a:xfrm>
          <a:prstGeom prst="roundRect">
            <a:avLst>
              <a:gd name="adj" fmla="val 16000"/>
            </a:avLst>
          </a:prstGeom>
          <a:solidFill>
            <a:srgbClr val="0E3559"/>
          </a:solidFill>
          <a:ln w="12700">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lang="en-GB" sz="1050" dirty="0">
                <a:solidFill>
                  <a:srgbClr val="C7D3E3"/>
                </a:solidFill>
              </a:rPr>
              <a:t>legacy-auth Conditional Access policy disabled</a:t>
            </a:r>
          </a:p>
        </p:txBody>
      </p:sp>
      <p:sp>
        <p:nvSpPr>
          <p:cNvPr id="15" name="Rounded Rectangle 14"/>
          <p:cNvSpPr/>
          <p:nvPr/>
        </p:nvSpPr>
        <p:spPr>
          <a:xfrm>
            <a:off x="4956048" y="2944368"/>
            <a:ext cx="2029968" cy="749808"/>
          </a:xfrm>
          <a:prstGeom prst="roundRect">
            <a:avLst>
              <a:gd name="adj" fmla="val 16000"/>
            </a:avLst>
          </a:prstGeom>
          <a:solidFill>
            <a:srgbClr val="F4603C"/>
          </a:solidFill>
          <a:ln w="19050">
            <a:solidFill>
              <a:srgbClr val="C43F1E"/>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lang="en-GB" b="1" dirty="0">
                <a:solidFill>
                  <a:srgbClr val="1F2430"/>
                </a:solidFill>
              </a:rPr>
              <a:t>FAIL</a:t>
            </a:r>
          </a:p>
          <a:p>
            <a:pPr algn="ctr">
              <a:spcBef>
                <a:spcPts val="100"/>
              </a:spcBef>
            </a:pPr>
            <a:r>
              <a:rPr lang="en-GB" sz="1100" dirty="0">
                <a:solidFill>
                  <a:srgbClr val="1F2430"/>
                </a:solidFill>
              </a:rPr>
              <a:t>72%</a:t>
            </a:r>
          </a:p>
        </p:txBody>
      </p:sp>
      <p:sp>
        <p:nvSpPr>
          <p:cNvPr id="16" name="Rounded Rectangle 15"/>
          <p:cNvSpPr/>
          <p:nvPr/>
        </p:nvSpPr>
        <p:spPr>
          <a:xfrm>
            <a:off x="7242048" y="2944368"/>
            <a:ext cx="2029968" cy="749808"/>
          </a:xfrm>
          <a:prstGeom prst="roundRect">
            <a:avLst>
              <a:gd name="adj" fmla="val 16000"/>
            </a:avLst>
          </a:prstGeom>
          <a:solidFill>
            <a:srgbClr val="0E3559"/>
          </a:solidFill>
          <a:ln w="12700">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050" b="0" dirty="0">
                <a:solidFill>
                  <a:srgbClr val="C7D3E3"/>
                </a:solidFill>
              </a:rPr>
              <a:t>Conditional Access policy </a:t>
            </a:r>
            <a:r>
              <a:rPr lang="en-GB" sz="1050" dirty="0">
                <a:solidFill>
                  <a:srgbClr val="C7D3E3"/>
                </a:solidFill>
              </a:rPr>
              <a:t>re-enabled</a:t>
            </a:r>
            <a:endParaRPr sz="1050" b="0" dirty="0">
              <a:solidFill>
                <a:srgbClr val="C7D3E3"/>
              </a:solidFill>
            </a:endParaRPr>
          </a:p>
        </p:txBody>
      </p:sp>
      <p:sp>
        <p:nvSpPr>
          <p:cNvPr id="17" name="Rounded Rectangle 16"/>
          <p:cNvSpPr/>
          <p:nvPr/>
        </p:nvSpPr>
        <p:spPr>
          <a:xfrm>
            <a:off x="9528048" y="2944368"/>
            <a:ext cx="2029968" cy="749808"/>
          </a:xfrm>
          <a:prstGeom prst="roundRect">
            <a:avLst>
              <a:gd name="adj" fmla="val 16000"/>
            </a:avLst>
          </a:prstGeom>
          <a:solidFill>
            <a:srgbClr val="34C185"/>
          </a:solidFill>
          <a:ln w="19050">
            <a:solidFill>
              <a:srgbClr val="1E9463"/>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lang="en-GB" sz="1700" b="1" dirty="0">
                <a:solidFill>
                  <a:srgbClr val="1F2430"/>
                </a:solidFill>
              </a:rPr>
              <a:t>PASS</a:t>
            </a:r>
          </a:p>
          <a:p>
            <a:pPr algn="ctr"/>
            <a:r>
              <a:rPr lang="en-GB" sz="1000" dirty="0">
                <a:solidFill>
                  <a:srgbClr val="1F2430"/>
                </a:solidFill>
              </a:rPr>
              <a:t>81%</a:t>
            </a:r>
          </a:p>
        </p:txBody>
      </p:sp>
      <p:sp>
        <p:nvSpPr>
          <p:cNvPr id="18" name="Rounded Rectangle 17"/>
          <p:cNvSpPr/>
          <p:nvPr/>
        </p:nvSpPr>
        <p:spPr>
          <a:xfrm>
            <a:off x="685800" y="3803904"/>
            <a:ext cx="1783080" cy="749808"/>
          </a:xfrm>
          <a:prstGeom prst="roundRect">
            <a:avLst>
              <a:gd name="adj" fmla="val 16000"/>
            </a:avLst>
          </a:prstGeom>
          <a:solidFill>
            <a:srgbClr val="3F7318"/>
          </a:solidFill>
          <a:ln w="19050">
            <a:solidFill>
              <a:srgbClr val="7CCA62"/>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400" b="1">
                <a:solidFill>
                  <a:srgbClr val="FFFFFF"/>
                </a:solidFill>
              </a:rPr>
              <a:t>GCP</a:t>
            </a:r>
          </a:p>
        </p:txBody>
      </p:sp>
      <p:sp>
        <p:nvSpPr>
          <p:cNvPr id="19" name="Rounded Rectangle 18"/>
          <p:cNvSpPr/>
          <p:nvPr/>
        </p:nvSpPr>
        <p:spPr>
          <a:xfrm>
            <a:off x="2670048" y="3803904"/>
            <a:ext cx="2029968" cy="749808"/>
          </a:xfrm>
          <a:prstGeom prst="roundRect">
            <a:avLst>
              <a:gd name="adj" fmla="val 16000"/>
            </a:avLst>
          </a:prstGeom>
          <a:solidFill>
            <a:srgbClr val="0E3559"/>
          </a:solidFill>
          <a:ln w="12700">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lang="en-GB" sz="1050" dirty="0">
                <a:solidFill>
                  <a:srgbClr val="C7D3E3"/>
                </a:solidFill>
              </a:rPr>
              <a:t>firewall amcaf-test-public-mysql — TCP 3306 open</a:t>
            </a:r>
          </a:p>
        </p:txBody>
      </p:sp>
      <p:sp>
        <p:nvSpPr>
          <p:cNvPr id="20" name="Rounded Rectangle 19"/>
          <p:cNvSpPr/>
          <p:nvPr/>
        </p:nvSpPr>
        <p:spPr>
          <a:xfrm>
            <a:off x="4956048" y="3803904"/>
            <a:ext cx="2029968" cy="749808"/>
          </a:xfrm>
          <a:prstGeom prst="roundRect">
            <a:avLst>
              <a:gd name="adj" fmla="val 16000"/>
            </a:avLst>
          </a:prstGeom>
          <a:solidFill>
            <a:srgbClr val="F4603C"/>
          </a:solidFill>
          <a:ln w="19050">
            <a:solidFill>
              <a:srgbClr val="C43F1E"/>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lang="en-GB" b="1" dirty="0">
                <a:solidFill>
                  <a:srgbClr val="1F2430"/>
                </a:solidFill>
              </a:rPr>
              <a:t>FAIL</a:t>
            </a:r>
          </a:p>
          <a:p>
            <a:pPr algn="ctr">
              <a:spcBef>
                <a:spcPts val="100"/>
              </a:spcBef>
            </a:pPr>
            <a:r>
              <a:rPr lang="en-GB" sz="1100" dirty="0">
                <a:solidFill>
                  <a:srgbClr val="1F2430"/>
                </a:solidFill>
              </a:rPr>
              <a:t>63%</a:t>
            </a:r>
          </a:p>
        </p:txBody>
      </p:sp>
      <p:sp>
        <p:nvSpPr>
          <p:cNvPr id="21" name="Rounded Rectangle 20"/>
          <p:cNvSpPr/>
          <p:nvPr/>
        </p:nvSpPr>
        <p:spPr>
          <a:xfrm>
            <a:off x="7242048" y="3803904"/>
            <a:ext cx="2029968" cy="749808"/>
          </a:xfrm>
          <a:prstGeom prst="roundRect">
            <a:avLst>
              <a:gd name="adj" fmla="val 16000"/>
            </a:avLst>
          </a:prstGeom>
          <a:solidFill>
            <a:srgbClr val="0E3559"/>
          </a:solidFill>
          <a:ln w="12700">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050" b="0">
                <a:solidFill>
                  <a:srgbClr val="C7D3E3"/>
                </a:solidFill>
              </a:rPr>
              <a:t>firewall rule deleted</a:t>
            </a:r>
          </a:p>
        </p:txBody>
      </p:sp>
      <p:sp>
        <p:nvSpPr>
          <p:cNvPr id="22" name="Rounded Rectangle 21"/>
          <p:cNvSpPr/>
          <p:nvPr/>
        </p:nvSpPr>
        <p:spPr>
          <a:xfrm>
            <a:off x="9528048" y="3803904"/>
            <a:ext cx="2029968" cy="749808"/>
          </a:xfrm>
          <a:prstGeom prst="roundRect">
            <a:avLst>
              <a:gd name="adj" fmla="val 16000"/>
            </a:avLst>
          </a:prstGeom>
          <a:solidFill>
            <a:srgbClr val="34C185"/>
          </a:solidFill>
          <a:ln w="19050">
            <a:solidFill>
              <a:srgbClr val="1E9463"/>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lang="en-GB" sz="1700" b="1" dirty="0">
                <a:solidFill>
                  <a:srgbClr val="1F2430"/>
                </a:solidFill>
              </a:rPr>
              <a:t>PASS</a:t>
            </a:r>
          </a:p>
          <a:p>
            <a:pPr algn="ctr"/>
            <a:r>
              <a:rPr lang="en-GB" sz="1000" dirty="0">
                <a:solidFill>
                  <a:srgbClr val="1F2430"/>
                </a:solidFill>
              </a:rPr>
              <a:t>72%</a:t>
            </a:r>
          </a:p>
        </p:txBody>
      </p:sp>
      <p:sp>
        <p:nvSpPr>
          <p:cNvPr id="23" name="TextBox 22"/>
          <p:cNvSpPr txBox="1"/>
          <p:nvPr/>
        </p:nvSpPr>
        <p:spPr>
          <a:xfrm>
            <a:off x="685800" y="4718304"/>
            <a:ext cx="10881360" cy="274320"/>
          </a:xfrm>
          <a:prstGeom prst="rect">
            <a:avLst/>
          </a:prstGeom>
          <a:noFill/>
        </p:spPr>
        <p:txBody>
          <a:bodyPr wrap="square" lIns="0" tIns="0" rIns="0" bIns="0" anchor="t">
            <a:spAutoFit/>
          </a:bodyPr>
          <a:lstStyle/>
          <a:p>
            <a:pPr algn="l"/>
            <a:r>
              <a:rPr sz="1300" b="0">
                <a:solidFill>
                  <a:srgbClr val="C7D3E3"/>
                </a:solidFill>
              </a:rPr>
              <a:t>All three providers moved together, in a single session — same governance logic, provider-appropriate mechanism.</a:t>
            </a:r>
          </a:p>
        </p:txBody>
      </p:sp>
      <p:sp>
        <p:nvSpPr>
          <p:cNvPr id="24" name="Rounded Rectangle 23"/>
          <p:cNvSpPr/>
          <p:nvPr/>
        </p:nvSpPr>
        <p:spPr>
          <a:xfrm>
            <a:off x="685800" y="5074920"/>
            <a:ext cx="5303520" cy="868680"/>
          </a:xfrm>
          <a:prstGeom prst="roundRect">
            <a:avLst>
              <a:gd name="adj" fmla="val 16000"/>
            </a:avLst>
          </a:prstGeom>
          <a:solidFill>
            <a:srgbClr val="08243F"/>
          </a:solidFill>
          <a:ln w="19050">
            <a:solidFill>
              <a:srgbClr val="1E9463"/>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800" b="1">
                <a:solidFill>
                  <a:srgbClr val="34C185"/>
                </a:solidFill>
              </a:rPr>
              <a:t>GCP baseline  60%  →  72%</a:t>
            </a:r>
          </a:p>
          <a:p>
            <a:pPr algn="ctr">
              <a:spcBef>
                <a:spcPts val="300"/>
              </a:spcBef>
            </a:pPr>
            <a:r>
              <a:rPr sz="1050" b="0">
                <a:solidFill>
                  <a:srgbClr val="C7D3E3"/>
                </a:solidFill>
              </a:rPr>
              <a:t>after NET-03 was added to the control set</a:t>
            </a:r>
          </a:p>
        </p:txBody>
      </p:sp>
      <p:sp>
        <p:nvSpPr>
          <p:cNvPr id="25" name="Rounded Rectangle 24"/>
          <p:cNvSpPr/>
          <p:nvPr/>
        </p:nvSpPr>
        <p:spPr>
          <a:xfrm>
            <a:off x="6263640" y="5074920"/>
            <a:ext cx="5303520" cy="868680"/>
          </a:xfrm>
          <a:prstGeom prst="roundRect">
            <a:avLst>
              <a:gd name="adj" fmla="val 16000"/>
            </a:avLst>
          </a:prstGeom>
          <a:solidFill>
            <a:srgbClr val="08243F"/>
          </a:solidFill>
          <a:ln w="19050">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500" b="1">
                <a:solidFill>
                  <a:srgbClr val="FFFFFF"/>
                </a:solidFill>
              </a:rPr>
              <a:t>Publicly inspectable audit trail</a:t>
            </a:r>
          </a:p>
          <a:p>
            <a:pPr algn="ctr">
              <a:spcBef>
                <a:spcPts val="300"/>
              </a:spcBef>
            </a:pPr>
            <a:r>
              <a:rPr sz="1050" b="0">
                <a:solidFill>
                  <a:srgbClr val="C7D3E3"/>
                </a:solidFill>
              </a:rPr>
              <a:t>GCP Logs Explorer — firewall insert and delete operations</a:t>
            </a:r>
          </a:p>
        </p:txBody>
      </p:sp>
      <p:sp>
        <p:nvSpPr>
          <p:cNvPr id="26" name="TextBox 25"/>
          <p:cNvSpPr txBox="1"/>
          <p:nvPr/>
        </p:nvSpPr>
        <p:spPr>
          <a:xfrm>
            <a:off x="685800" y="6108192"/>
            <a:ext cx="10881360" cy="256032"/>
          </a:xfrm>
          <a:prstGeom prst="rect">
            <a:avLst/>
          </a:prstGeom>
          <a:noFill/>
        </p:spPr>
        <p:txBody>
          <a:bodyPr wrap="square" lIns="0" tIns="0" rIns="0" bIns="0" anchor="t">
            <a:spAutoFit/>
          </a:bodyPr>
          <a:lstStyle/>
          <a:p>
            <a:pPr algn="l">
              <a:spcBef>
                <a:spcPts val="0"/>
              </a:spcBef>
            </a:pPr>
            <a:r>
              <a:rPr sz="1050" b="0" i="1">
                <a:solidFill>
                  <a:srgbClr val="8FA8C4"/>
                </a:solidFill>
              </a:rPr>
              <a:t>Coverage gap invisible to static analysis and synthetic scenarios — surfaced only by live injection testing.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BA4F1-3BD9-DD7A-51A0-9D1BF8A4140D}"/>
              </a:ext>
            </a:extLst>
          </p:cNvPr>
          <p:cNvSpPr>
            <a:spLocks noGrp="1"/>
          </p:cNvSpPr>
          <p:nvPr>
            <p:ph type="title"/>
          </p:nvPr>
        </p:nvSpPr>
        <p:spPr>
          <a:xfrm>
            <a:off x="838200" y="365126"/>
            <a:ext cx="10515600" cy="703184"/>
          </a:xfrm>
        </p:spPr>
        <p:txBody>
          <a:bodyPr>
            <a:normAutofit/>
          </a:bodyPr>
          <a:lstStyle/>
          <a:p>
            <a:r>
              <a:rPr lang="en-GB" sz="3200" dirty="0"/>
              <a:t>Live evidence — NET-03 on AWS and Google Cloud</a:t>
            </a:r>
          </a:p>
        </p:txBody>
      </p:sp>
      <p:sp>
        <p:nvSpPr>
          <p:cNvPr id="3" name="TextBox 2">
            <a:extLst>
              <a:ext uri="{FF2B5EF4-FFF2-40B4-BE49-F238E27FC236}">
                <a16:creationId xmlns:a16="http://schemas.microsoft.com/office/drawing/2014/main" id="{94159D3B-9F60-3EF5-C7CC-42C3A3C28F39}"/>
              </a:ext>
            </a:extLst>
          </p:cNvPr>
          <p:cNvSpPr txBox="1"/>
          <p:nvPr/>
        </p:nvSpPr>
        <p:spPr>
          <a:xfrm>
            <a:off x="615636" y="1151605"/>
            <a:ext cx="9125264" cy="584775"/>
          </a:xfrm>
          <a:prstGeom prst="rect">
            <a:avLst/>
          </a:prstGeom>
          <a:noFill/>
        </p:spPr>
        <p:txBody>
          <a:bodyPr wrap="square" rtlCol="0">
            <a:spAutoFit/>
          </a:bodyPr>
          <a:lstStyle/>
          <a:p>
            <a:r>
              <a:rPr lang="en-GB" sz="1400" b="1" dirty="0">
                <a:solidFill>
                  <a:srgbClr val="FFC000"/>
                </a:solidFill>
              </a:rPr>
              <a:t>AWS</a:t>
            </a:r>
            <a:r>
              <a:rPr lang="en-GB" dirty="0"/>
              <a:t> </a:t>
            </a:r>
            <a:r>
              <a:rPr lang="en-GB" sz="1400" b="1" dirty="0">
                <a:solidFill>
                  <a:schemeClr val="tx1">
                    <a:lumMod val="95000"/>
                  </a:schemeClr>
                </a:solidFill>
              </a:rPr>
              <a:t>assessment identity with an active API key, last used within the hour </a:t>
            </a:r>
            <a:r>
              <a:rPr lang="en-GB" sz="1000" dirty="0">
                <a:solidFill>
                  <a:schemeClr val="tx1">
                    <a:lumMod val="85000"/>
                  </a:schemeClr>
                </a:solidFill>
              </a:rPr>
              <a:t>Fig 4.18</a:t>
            </a:r>
          </a:p>
          <a:p>
            <a:endParaRPr lang="en-GB" sz="1400" b="1" dirty="0">
              <a:solidFill>
                <a:schemeClr val="tx1">
                  <a:lumMod val="95000"/>
                </a:schemeClr>
              </a:solidFill>
            </a:endParaRPr>
          </a:p>
        </p:txBody>
      </p:sp>
      <p:sp>
        <p:nvSpPr>
          <p:cNvPr id="7" name="TextBox 6">
            <a:extLst>
              <a:ext uri="{FF2B5EF4-FFF2-40B4-BE49-F238E27FC236}">
                <a16:creationId xmlns:a16="http://schemas.microsoft.com/office/drawing/2014/main" id="{E1CE1BF8-8DD6-8F8C-683D-5943D39C35D3}"/>
              </a:ext>
            </a:extLst>
          </p:cNvPr>
          <p:cNvSpPr txBox="1"/>
          <p:nvPr/>
        </p:nvSpPr>
        <p:spPr>
          <a:xfrm>
            <a:off x="615636" y="3429000"/>
            <a:ext cx="8265814" cy="523220"/>
          </a:xfrm>
          <a:prstGeom prst="rect">
            <a:avLst/>
          </a:prstGeom>
          <a:noFill/>
        </p:spPr>
        <p:txBody>
          <a:bodyPr wrap="square" rtlCol="0">
            <a:spAutoFit/>
          </a:bodyPr>
          <a:lstStyle/>
          <a:p>
            <a:r>
              <a:rPr lang="en-GB" sz="1400" b="1" dirty="0">
                <a:solidFill>
                  <a:srgbClr val="7CCA62"/>
                </a:solidFill>
              </a:rPr>
              <a:t>GCP   </a:t>
            </a:r>
            <a:r>
              <a:rPr lang="en-GB" sz="1400" b="1" dirty="0">
                <a:solidFill>
                  <a:schemeClr val="tx1">
                    <a:lumMod val="85000"/>
                  </a:schemeClr>
                </a:solidFill>
              </a:rPr>
              <a:t>NET-03 test firewall rule inserted, then deleted — both operations logged </a:t>
            </a:r>
            <a:r>
              <a:rPr lang="en-GB" sz="1000" dirty="0">
                <a:solidFill>
                  <a:schemeClr val="tx1">
                    <a:lumMod val="85000"/>
                  </a:schemeClr>
                </a:solidFill>
              </a:rPr>
              <a:t>Fig. 4.23</a:t>
            </a:r>
          </a:p>
          <a:p>
            <a:endParaRPr lang="en-GB" sz="1400" b="1" dirty="0">
              <a:solidFill>
                <a:schemeClr val="tx1">
                  <a:lumMod val="85000"/>
                </a:schemeClr>
              </a:solidFill>
            </a:endParaRPr>
          </a:p>
        </p:txBody>
      </p:sp>
      <p:sp>
        <p:nvSpPr>
          <p:cNvPr id="9" name="TextBox 8">
            <a:extLst>
              <a:ext uri="{FF2B5EF4-FFF2-40B4-BE49-F238E27FC236}">
                <a16:creationId xmlns:a16="http://schemas.microsoft.com/office/drawing/2014/main" id="{BF06C8D2-6D0A-2538-5D62-E7CFCC74143C}"/>
              </a:ext>
            </a:extLst>
          </p:cNvPr>
          <p:cNvSpPr txBox="1"/>
          <p:nvPr/>
        </p:nvSpPr>
        <p:spPr>
          <a:xfrm>
            <a:off x="687324" y="2984155"/>
            <a:ext cx="10103668" cy="553998"/>
          </a:xfrm>
          <a:prstGeom prst="rect">
            <a:avLst/>
          </a:prstGeom>
          <a:noFill/>
        </p:spPr>
        <p:txBody>
          <a:bodyPr wrap="square" rtlCol="0">
            <a:spAutoFit/>
          </a:bodyPr>
          <a:lstStyle/>
          <a:p>
            <a:r>
              <a:rPr lang="en-GB" sz="1200" i="1" dirty="0">
                <a:solidFill>
                  <a:srgbClr val="8FA8C4"/>
                </a:solidFill>
              </a:rPr>
              <a:t>amcaf-assessment holds the programmatic credential; amcaf-admin has console access disabled — separation of duties in the research account.</a:t>
            </a:r>
          </a:p>
          <a:p>
            <a:endParaRPr lang="en-GB" dirty="0"/>
          </a:p>
        </p:txBody>
      </p:sp>
      <p:pic>
        <p:nvPicPr>
          <p:cNvPr id="15" name="Picture 14">
            <a:extLst>
              <a:ext uri="{FF2B5EF4-FFF2-40B4-BE49-F238E27FC236}">
                <a16:creationId xmlns:a16="http://schemas.microsoft.com/office/drawing/2014/main" id="{5C03BB38-DA8A-0899-96AB-870FCCDF2EA8}"/>
              </a:ext>
            </a:extLst>
          </p:cNvPr>
          <p:cNvPicPr>
            <a:picLocks noChangeAspect="1"/>
          </p:cNvPicPr>
          <p:nvPr/>
        </p:nvPicPr>
        <p:blipFill>
          <a:blip r:embed="rId3"/>
          <a:stretch>
            <a:fillRect/>
          </a:stretch>
        </p:blipFill>
        <p:spPr>
          <a:xfrm>
            <a:off x="652855" y="3750790"/>
            <a:ext cx="10851821" cy="1182727"/>
          </a:xfrm>
          <a:prstGeom prst="rect">
            <a:avLst/>
          </a:prstGeom>
        </p:spPr>
      </p:pic>
      <p:pic>
        <p:nvPicPr>
          <p:cNvPr id="17" name="Picture 16" descr="tight_4.18.png">
            <a:extLst>
              <a:ext uri="{FF2B5EF4-FFF2-40B4-BE49-F238E27FC236}">
                <a16:creationId xmlns:a16="http://schemas.microsoft.com/office/drawing/2014/main" id="{3AC29E6C-003D-8ABF-3A7A-9C29D0095C3E}"/>
              </a:ext>
            </a:extLst>
          </p:cNvPr>
          <p:cNvPicPr>
            <a:picLocks noChangeAspect="1"/>
          </p:cNvPicPr>
          <p:nvPr/>
        </p:nvPicPr>
        <p:blipFill>
          <a:blip r:embed="rId4"/>
          <a:stretch>
            <a:fillRect/>
          </a:stretch>
        </p:blipFill>
        <p:spPr>
          <a:xfrm>
            <a:off x="687324" y="1575928"/>
            <a:ext cx="10817352" cy="1324932"/>
          </a:xfrm>
          <a:prstGeom prst="rect">
            <a:avLst/>
          </a:prstGeom>
          <a:ln w="15875">
            <a:solidFill>
              <a:srgbClr val="2E7CC4"/>
            </a:solidFill>
          </a:ln>
        </p:spPr>
      </p:pic>
      <p:sp>
        <p:nvSpPr>
          <p:cNvPr id="18" name="TextBox 17">
            <a:extLst>
              <a:ext uri="{FF2B5EF4-FFF2-40B4-BE49-F238E27FC236}">
                <a16:creationId xmlns:a16="http://schemas.microsoft.com/office/drawing/2014/main" id="{94CA1641-3687-E6F4-8E95-29A6470CCAD3}"/>
              </a:ext>
            </a:extLst>
          </p:cNvPr>
          <p:cNvSpPr txBox="1"/>
          <p:nvPr/>
        </p:nvSpPr>
        <p:spPr>
          <a:xfrm>
            <a:off x="652855" y="4869155"/>
            <a:ext cx="10817352" cy="553998"/>
          </a:xfrm>
          <a:prstGeom prst="rect">
            <a:avLst/>
          </a:prstGeom>
          <a:noFill/>
        </p:spPr>
        <p:txBody>
          <a:bodyPr wrap="square" rtlCol="0">
            <a:spAutoFit/>
          </a:bodyPr>
          <a:lstStyle/>
          <a:p>
            <a:r>
              <a:rPr lang="en-GB" sz="1200" i="1" dirty="0">
                <a:solidFill>
                  <a:srgbClr val="8FA8C4"/>
                </a:solidFill>
              </a:rPr>
              <a:t>amcaf-test-public-mysql — v1.compute.firewalls.insert and .delete, with principal and UTC timestamp on every entry.</a:t>
            </a:r>
          </a:p>
          <a:p>
            <a:endParaRPr lang="en-GB" dirty="0"/>
          </a:p>
        </p:txBody>
      </p:sp>
      <p:sp>
        <p:nvSpPr>
          <p:cNvPr id="19" name="Rectangle: Rounded Corners 18">
            <a:extLst>
              <a:ext uri="{FF2B5EF4-FFF2-40B4-BE49-F238E27FC236}">
                <a16:creationId xmlns:a16="http://schemas.microsoft.com/office/drawing/2014/main" id="{37EE778C-EBF3-0085-33A0-EE20AE534263}"/>
              </a:ext>
            </a:extLst>
          </p:cNvPr>
          <p:cNvSpPr/>
          <p:nvPr/>
        </p:nvSpPr>
        <p:spPr>
          <a:xfrm>
            <a:off x="615635" y="5347200"/>
            <a:ext cx="10851821" cy="609600"/>
          </a:xfrm>
          <a:prstGeom prst="roundRect">
            <a:avLst/>
          </a:prstGeom>
          <a:solidFill>
            <a:schemeClr val="bg2">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C7D3E3"/>
                </a:solidFill>
              </a:rPr>
              <a:t>All test activity recorded in the GitHub history ledger with run IDs and UTC timestamps</a:t>
            </a:r>
          </a:p>
        </p:txBody>
      </p:sp>
    </p:spTree>
    <p:extLst>
      <p:ext uri="{BB962C8B-B14F-4D97-AF65-F5344CB8AC3E}">
        <p14:creationId xmlns:p14="http://schemas.microsoft.com/office/powerpoint/2010/main" val="443961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10896"/>
            <a:ext cx="10881360" cy="685800"/>
          </a:xfrm>
        </p:spPr>
        <p:txBody>
          <a:bodyPr wrap="square"/>
          <a:lstStyle/>
          <a:p>
            <a:r>
              <a:rPr sz="3200" b="0">
                <a:solidFill>
                  <a:srgbClr val="FFFFFF"/>
                </a:solidFill>
              </a:rPr>
              <a:t>Traceability: one finding, seven obligations</a:t>
            </a:r>
          </a:p>
        </p:txBody>
      </p:sp>
      <p:sp>
        <p:nvSpPr>
          <p:cNvPr id="3" name="Rectangle 2"/>
          <p:cNvSpPr/>
          <p:nvPr/>
        </p:nvSpPr>
        <p:spPr>
          <a:xfrm>
            <a:off x="685800" y="1060704"/>
            <a:ext cx="10881360" cy="20320"/>
          </a:xfrm>
          <a:prstGeom prst="rect">
            <a:avLst/>
          </a:prstGeom>
          <a:solidFill>
            <a:srgbClr val="2E7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85800" y="2212848"/>
            <a:ext cx="2880360" cy="1554480"/>
          </a:xfrm>
          <a:prstGeom prst="roundRect">
            <a:avLst>
              <a:gd name="adj" fmla="val 16000"/>
            </a:avLst>
          </a:prstGeom>
          <a:solidFill>
            <a:srgbClr val="08243F"/>
          </a:solidFill>
          <a:ln w="25400">
            <a:solidFill>
              <a:srgbClr val="C43F1E"/>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2600" b="1">
                <a:solidFill>
                  <a:srgbClr val="FFFFFF"/>
                </a:solidFill>
              </a:rPr>
              <a:t>IAM-02</a:t>
            </a:r>
          </a:p>
          <a:p>
            <a:pPr algn="ctr">
              <a:spcBef>
                <a:spcPts val="400"/>
              </a:spcBef>
            </a:pPr>
            <a:r>
              <a:rPr sz="1500" b="1">
                <a:solidFill>
                  <a:srgbClr val="F4603C"/>
                </a:solidFill>
              </a:rPr>
              <a:t>FAIL</a:t>
            </a:r>
          </a:p>
          <a:p>
            <a:pPr algn="ctr">
              <a:spcBef>
                <a:spcPts val="500"/>
              </a:spcBef>
            </a:pPr>
            <a:r>
              <a:rPr sz="1050" b="0">
                <a:solidFill>
                  <a:srgbClr val="C7D3E3"/>
                </a:solidFill>
              </a:rPr>
              <a:t>MFA not enforced for privileged accounts</a:t>
            </a:r>
          </a:p>
        </p:txBody>
      </p:sp>
      <p:cxnSp>
        <p:nvCxnSpPr>
          <p:cNvPr id="5" name="Connector 4"/>
          <p:cNvCxnSpPr/>
          <p:nvPr/>
        </p:nvCxnSpPr>
        <p:spPr>
          <a:xfrm flipV="1">
            <a:off x="3566160" y="1618488"/>
            <a:ext cx="1965960" cy="1371600"/>
          </a:xfrm>
          <a:prstGeom prst="line">
            <a:avLst/>
          </a:prstGeom>
          <a:ln w="12700">
            <a:solidFill>
              <a:srgbClr val="2E7CC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532120" y="1389888"/>
            <a:ext cx="6035040" cy="457200"/>
          </a:xfrm>
          <a:prstGeom prst="roundRect">
            <a:avLst>
              <a:gd name="adj" fmla="val 16000"/>
            </a:avLst>
          </a:prstGeom>
          <a:solidFill>
            <a:srgbClr val="0E3559"/>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300" b="1">
                <a:solidFill>
                  <a:srgbClr val="FFFFFF"/>
                </a:solidFill>
              </a:rPr>
              <a:t>FCA PS21/3</a:t>
            </a:r>
          </a:p>
        </p:txBody>
      </p:sp>
      <p:cxnSp>
        <p:nvCxnSpPr>
          <p:cNvPr id="7" name="Connector 6"/>
          <p:cNvCxnSpPr/>
          <p:nvPr/>
        </p:nvCxnSpPr>
        <p:spPr>
          <a:xfrm flipV="1">
            <a:off x="3566160" y="2194560"/>
            <a:ext cx="1965960" cy="795528"/>
          </a:xfrm>
          <a:prstGeom prst="line">
            <a:avLst/>
          </a:prstGeom>
          <a:ln w="12700">
            <a:solidFill>
              <a:srgbClr val="2E7CC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532120" y="1965960"/>
            <a:ext cx="6035040" cy="457200"/>
          </a:xfrm>
          <a:prstGeom prst="roundRect">
            <a:avLst>
              <a:gd name="adj" fmla="val 16000"/>
            </a:avLst>
          </a:prstGeom>
          <a:solidFill>
            <a:srgbClr val="0E3559"/>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300" b="1">
                <a:solidFill>
                  <a:srgbClr val="FFFFFF"/>
                </a:solidFill>
              </a:rPr>
              <a:t>NIST CSF PR.AC-7</a:t>
            </a:r>
          </a:p>
        </p:txBody>
      </p:sp>
      <p:cxnSp>
        <p:nvCxnSpPr>
          <p:cNvPr id="9" name="Connector 8"/>
          <p:cNvCxnSpPr/>
          <p:nvPr/>
        </p:nvCxnSpPr>
        <p:spPr>
          <a:xfrm flipV="1">
            <a:off x="3566160" y="2770632"/>
            <a:ext cx="1965960" cy="219456"/>
          </a:xfrm>
          <a:prstGeom prst="line">
            <a:avLst/>
          </a:prstGeom>
          <a:ln w="12700">
            <a:solidFill>
              <a:srgbClr val="2E7CC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532120" y="2542032"/>
            <a:ext cx="6035040" cy="457200"/>
          </a:xfrm>
          <a:prstGeom prst="roundRect">
            <a:avLst>
              <a:gd name="adj" fmla="val 16000"/>
            </a:avLst>
          </a:prstGeom>
          <a:solidFill>
            <a:srgbClr val="0E3559"/>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300" b="1">
                <a:solidFill>
                  <a:srgbClr val="FFFFFF"/>
                </a:solidFill>
              </a:rPr>
              <a:t>ISO 27001 A.9.4</a:t>
            </a:r>
          </a:p>
        </p:txBody>
      </p:sp>
      <p:cxnSp>
        <p:nvCxnSpPr>
          <p:cNvPr id="11" name="Connector 10"/>
          <p:cNvCxnSpPr/>
          <p:nvPr/>
        </p:nvCxnSpPr>
        <p:spPr>
          <a:xfrm>
            <a:off x="3566160" y="2990088"/>
            <a:ext cx="1965960" cy="356616"/>
          </a:xfrm>
          <a:prstGeom prst="line">
            <a:avLst/>
          </a:prstGeom>
          <a:ln w="12700">
            <a:solidFill>
              <a:srgbClr val="2E7CC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532120" y="3118104"/>
            <a:ext cx="6035040" cy="457200"/>
          </a:xfrm>
          <a:prstGeom prst="roundRect">
            <a:avLst>
              <a:gd name="adj" fmla="val 16000"/>
            </a:avLst>
          </a:prstGeom>
          <a:solidFill>
            <a:srgbClr val="0E3559"/>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300" b="1" dirty="0">
                <a:solidFill>
                  <a:srgbClr val="FFFFFF"/>
                </a:solidFill>
              </a:rPr>
              <a:t>CSSF 22/806 §3.3</a:t>
            </a:r>
          </a:p>
        </p:txBody>
      </p:sp>
      <p:cxnSp>
        <p:nvCxnSpPr>
          <p:cNvPr id="13" name="Connector 12"/>
          <p:cNvCxnSpPr/>
          <p:nvPr/>
        </p:nvCxnSpPr>
        <p:spPr>
          <a:xfrm>
            <a:off x="3566160" y="2990088"/>
            <a:ext cx="1965960" cy="932688"/>
          </a:xfrm>
          <a:prstGeom prst="line">
            <a:avLst/>
          </a:prstGeom>
          <a:ln w="12700">
            <a:solidFill>
              <a:srgbClr val="2E7CC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532120" y="3694176"/>
            <a:ext cx="6035040" cy="457200"/>
          </a:xfrm>
          <a:prstGeom prst="roundRect">
            <a:avLst>
              <a:gd name="adj" fmla="val 16000"/>
            </a:avLst>
          </a:prstGeom>
          <a:solidFill>
            <a:srgbClr val="0E3559"/>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300" b="1">
                <a:solidFill>
                  <a:srgbClr val="FFFFFF"/>
                </a:solidFill>
              </a:rPr>
              <a:t>MAS TRM 6.2</a:t>
            </a:r>
          </a:p>
        </p:txBody>
      </p:sp>
      <p:cxnSp>
        <p:nvCxnSpPr>
          <p:cNvPr id="15" name="Connector 14"/>
          <p:cNvCxnSpPr/>
          <p:nvPr/>
        </p:nvCxnSpPr>
        <p:spPr>
          <a:xfrm>
            <a:off x="3566160" y="2990088"/>
            <a:ext cx="1965960" cy="1508760"/>
          </a:xfrm>
          <a:prstGeom prst="line">
            <a:avLst/>
          </a:prstGeom>
          <a:ln w="12700">
            <a:solidFill>
              <a:srgbClr val="2E7CC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532120" y="4270248"/>
            <a:ext cx="6035040" cy="457200"/>
          </a:xfrm>
          <a:prstGeom prst="roundRect">
            <a:avLst>
              <a:gd name="adj" fmla="val 16000"/>
            </a:avLst>
          </a:prstGeom>
          <a:solidFill>
            <a:srgbClr val="0E3559"/>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300" b="1">
                <a:solidFill>
                  <a:srgbClr val="FFFFFF"/>
                </a:solidFill>
              </a:rPr>
              <a:t>PCI DSS v4.0 Req 8</a:t>
            </a:r>
          </a:p>
        </p:txBody>
      </p:sp>
      <p:cxnSp>
        <p:nvCxnSpPr>
          <p:cNvPr id="17" name="Connector 16"/>
          <p:cNvCxnSpPr/>
          <p:nvPr/>
        </p:nvCxnSpPr>
        <p:spPr>
          <a:xfrm>
            <a:off x="3566160" y="2990088"/>
            <a:ext cx="1965960" cy="2084832"/>
          </a:xfrm>
          <a:prstGeom prst="line">
            <a:avLst/>
          </a:prstGeom>
          <a:ln w="12700">
            <a:solidFill>
              <a:srgbClr val="2E7CC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532120" y="4846320"/>
            <a:ext cx="6035040" cy="457200"/>
          </a:xfrm>
          <a:prstGeom prst="roundRect">
            <a:avLst>
              <a:gd name="adj" fmla="val 16000"/>
            </a:avLst>
          </a:prstGeom>
          <a:solidFill>
            <a:srgbClr val="0E3559"/>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300" b="1">
                <a:solidFill>
                  <a:srgbClr val="FFFFFF"/>
                </a:solidFill>
              </a:rPr>
              <a:t>SOC 2 CC6.1</a:t>
            </a:r>
          </a:p>
        </p:txBody>
      </p:sp>
      <p:sp>
        <p:nvSpPr>
          <p:cNvPr id="19" name="TextBox 18"/>
          <p:cNvSpPr txBox="1"/>
          <p:nvPr/>
        </p:nvSpPr>
        <p:spPr>
          <a:xfrm>
            <a:off x="685800" y="3977639"/>
            <a:ext cx="4206240" cy="1097280"/>
          </a:xfrm>
          <a:prstGeom prst="rect">
            <a:avLst/>
          </a:prstGeom>
          <a:noFill/>
        </p:spPr>
        <p:txBody>
          <a:bodyPr wrap="square" lIns="0" tIns="0" rIns="0" bIns="0" anchor="t">
            <a:spAutoFit/>
          </a:bodyPr>
          <a:lstStyle/>
          <a:p>
            <a:pPr algn="l"/>
            <a:r>
              <a:rPr sz="1400" b="1">
                <a:solidFill>
                  <a:srgbClr val="FFFFFF"/>
                </a:solidFill>
              </a:rPr>
              <a:t>One automated check.</a:t>
            </a:r>
          </a:p>
          <a:p>
            <a:pPr algn="l">
              <a:spcBef>
                <a:spcPts val="500"/>
              </a:spcBef>
            </a:pPr>
            <a:r>
              <a:rPr sz="1150" b="0">
                <a:solidFill>
                  <a:srgbClr val="C7D3E3"/>
                </a:solidFill>
              </a:rPr>
              <a:t>Evidence against seven obligations, in seven jurisdictions and standards, from a single evaluation.</a:t>
            </a:r>
          </a:p>
        </p:txBody>
      </p:sp>
      <p:sp>
        <p:nvSpPr>
          <p:cNvPr id="20" name="Rounded Rectangle 19"/>
          <p:cNvSpPr/>
          <p:nvPr/>
        </p:nvSpPr>
        <p:spPr>
          <a:xfrm>
            <a:off x="655320" y="5468112"/>
            <a:ext cx="10881360" cy="658368"/>
          </a:xfrm>
          <a:prstGeom prst="roundRect">
            <a:avLst>
              <a:gd name="adj" fmla="val 16000"/>
            </a:avLst>
          </a:prstGeom>
          <a:solidFill>
            <a:srgbClr val="08243F"/>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250" b="1" dirty="0">
                <a:solidFill>
                  <a:srgbClr val="C7D3E3"/>
                </a:solidFill>
              </a:rPr>
              <a:t>control domain   →   control objective   →   regulatory provisions   →   provider attribute   →   finding detail</a:t>
            </a:r>
          </a:p>
        </p:txBody>
      </p:sp>
      <p:sp>
        <p:nvSpPr>
          <p:cNvPr id="21" name="TextBox 20"/>
          <p:cNvSpPr txBox="1"/>
          <p:nvPr/>
        </p:nvSpPr>
        <p:spPr>
          <a:xfrm>
            <a:off x="685800" y="6236208"/>
            <a:ext cx="10881360" cy="256032"/>
          </a:xfrm>
          <a:prstGeom prst="rect">
            <a:avLst/>
          </a:prstGeom>
          <a:noFill/>
        </p:spPr>
        <p:txBody>
          <a:bodyPr wrap="square" lIns="0" tIns="0" rIns="0" bIns="0" anchor="t">
            <a:spAutoFit/>
          </a:bodyPr>
          <a:lstStyle/>
          <a:p>
            <a:pPr algn="l">
              <a:spcBef>
                <a:spcPts val="0"/>
              </a:spcBef>
            </a:pPr>
            <a:r>
              <a:rPr sz="1050" b="0" i="1">
                <a:solidFill>
                  <a:srgbClr val="8FA8C4"/>
                </a:solidFill>
              </a:rPr>
              <a:t>Present in all 38 FAIL findings, all 282 PASS findings, and every live assessment finding.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80B51D-20F2-E92C-68AF-478ECEE66D85}"/>
              </a:ext>
            </a:extLst>
          </p:cNvPr>
          <p:cNvSpPr txBox="1"/>
          <p:nvPr/>
        </p:nvSpPr>
        <p:spPr>
          <a:xfrm>
            <a:off x="445074" y="92646"/>
            <a:ext cx="11298803" cy="584775"/>
          </a:xfrm>
          <a:prstGeom prst="rect">
            <a:avLst/>
          </a:prstGeom>
          <a:noFill/>
        </p:spPr>
        <p:txBody>
          <a:bodyPr wrap="square">
            <a:spAutoFit/>
          </a:bodyPr>
          <a:lstStyle/>
          <a:p>
            <a:pPr algn="ctr"/>
            <a:r>
              <a:rPr lang="en-GB" sz="3200" b="0" dirty="0">
                <a:solidFill>
                  <a:srgbClr val="FFFFFF"/>
                </a:solidFill>
              </a:rPr>
              <a:t>Live evidence — drift detected on a real tenant</a:t>
            </a:r>
            <a:endParaRPr lang="en-GB" dirty="0"/>
          </a:p>
        </p:txBody>
      </p:sp>
      <p:sp>
        <p:nvSpPr>
          <p:cNvPr id="4" name="TextBox 3">
            <a:extLst>
              <a:ext uri="{FF2B5EF4-FFF2-40B4-BE49-F238E27FC236}">
                <a16:creationId xmlns:a16="http://schemas.microsoft.com/office/drawing/2014/main" id="{D1C21EAF-9730-A585-83AC-D7477F0E5C78}"/>
              </a:ext>
            </a:extLst>
          </p:cNvPr>
          <p:cNvSpPr txBox="1"/>
          <p:nvPr/>
        </p:nvSpPr>
        <p:spPr>
          <a:xfrm>
            <a:off x="612249" y="885771"/>
            <a:ext cx="4405023" cy="276999"/>
          </a:xfrm>
          <a:prstGeom prst="rect">
            <a:avLst/>
          </a:prstGeom>
          <a:noFill/>
        </p:spPr>
        <p:txBody>
          <a:bodyPr wrap="square" rtlCol="0">
            <a:spAutoFit/>
          </a:bodyPr>
          <a:lstStyle/>
          <a:p>
            <a:r>
              <a:rPr lang="en-GB" sz="1200" b="1" dirty="0">
                <a:solidFill>
                  <a:srgbClr val="34C185"/>
                </a:solidFill>
              </a:rPr>
              <a:t>1   </a:t>
            </a:r>
            <a:r>
              <a:rPr lang="en-GB" sz="1200" b="1" dirty="0">
                <a:solidFill>
                  <a:srgbClr val="FFFFFF"/>
                </a:solidFill>
              </a:rPr>
              <a:t>BASELINE — no guest users</a:t>
            </a:r>
            <a:r>
              <a:rPr lang="en-GB" sz="1200" dirty="0">
                <a:solidFill>
                  <a:srgbClr val="8FA8C4"/>
                </a:solidFill>
              </a:rPr>
              <a:t>    </a:t>
            </a:r>
            <a:r>
              <a:rPr lang="en-GB" sz="1000" dirty="0">
                <a:solidFill>
                  <a:srgbClr val="8FA8C4"/>
                </a:solidFill>
              </a:rPr>
              <a:t>Fig. 4.11</a:t>
            </a:r>
          </a:p>
        </p:txBody>
      </p:sp>
      <p:pic>
        <p:nvPicPr>
          <p:cNvPr id="6" name="Picture 5" descr="tight_4.11.png">
            <a:extLst>
              <a:ext uri="{FF2B5EF4-FFF2-40B4-BE49-F238E27FC236}">
                <a16:creationId xmlns:a16="http://schemas.microsoft.com/office/drawing/2014/main" id="{A5816449-EEA1-B17E-2488-6730E8A20FCB}"/>
              </a:ext>
            </a:extLst>
          </p:cNvPr>
          <p:cNvPicPr>
            <a:picLocks noChangeAspect="1"/>
          </p:cNvPicPr>
          <p:nvPr/>
        </p:nvPicPr>
        <p:blipFill>
          <a:blip r:embed="rId3"/>
          <a:stretch>
            <a:fillRect/>
          </a:stretch>
        </p:blipFill>
        <p:spPr>
          <a:xfrm>
            <a:off x="772071" y="1165363"/>
            <a:ext cx="4245202" cy="1023292"/>
          </a:xfrm>
          <a:prstGeom prst="rect">
            <a:avLst/>
          </a:prstGeom>
          <a:ln w="15875">
            <a:solidFill>
              <a:srgbClr val="2E7CC4"/>
            </a:solidFill>
          </a:ln>
        </p:spPr>
      </p:pic>
      <p:sp>
        <p:nvSpPr>
          <p:cNvPr id="7" name="TextBox 6">
            <a:extLst>
              <a:ext uri="{FF2B5EF4-FFF2-40B4-BE49-F238E27FC236}">
                <a16:creationId xmlns:a16="http://schemas.microsoft.com/office/drawing/2014/main" id="{DF1300AC-AF19-92DE-382A-8CEC57E4F81E}"/>
              </a:ext>
            </a:extLst>
          </p:cNvPr>
          <p:cNvSpPr txBox="1"/>
          <p:nvPr/>
        </p:nvSpPr>
        <p:spPr>
          <a:xfrm>
            <a:off x="6202017" y="885771"/>
            <a:ext cx="5011973" cy="553998"/>
          </a:xfrm>
          <a:prstGeom prst="rect">
            <a:avLst/>
          </a:prstGeom>
          <a:noFill/>
        </p:spPr>
        <p:txBody>
          <a:bodyPr wrap="square" rtlCol="0">
            <a:spAutoFit/>
          </a:bodyPr>
          <a:lstStyle/>
          <a:p>
            <a:r>
              <a:rPr lang="en-GB" sz="1200" b="1" dirty="0">
                <a:solidFill>
                  <a:srgbClr val="34C185"/>
                </a:solidFill>
              </a:rPr>
              <a:t>2   </a:t>
            </a:r>
            <a:r>
              <a:rPr lang="en-GB" sz="1200" b="1" dirty="0">
                <a:solidFill>
                  <a:srgbClr val="FFFFFF"/>
                </a:solidFill>
              </a:rPr>
              <a:t>INJECTED — two guests added</a:t>
            </a:r>
            <a:r>
              <a:rPr lang="en-GB" sz="1200" dirty="0">
                <a:solidFill>
                  <a:srgbClr val="8FA8C4"/>
                </a:solidFill>
              </a:rPr>
              <a:t>   </a:t>
            </a:r>
            <a:r>
              <a:rPr lang="en-GB" sz="1000" dirty="0">
                <a:solidFill>
                  <a:srgbClr val="8FA8C4"/>
                </a:solidFill>
              </a:rPr>
              <a:t> Fig. 4.12</a:t>
            </a:r>
          </a:p>
          <a:p>
            <a:endParaRPr lang="en-GB" dirty="0"/>
          </a:p>
        </p:txBody>
      </p:sp>
      <p:pic>
        <p:nvPicPr>
          <p:cNvPr id="11" name="Picture 10" descr="tight_4.12.png">
            <a:extLst>
              <a:ext uri="{FF2B5EF4-FFF2-40B4-BE49-F238E27FC236}">
                <a16:creationId xmlns:a16="http://schemas.microsoft.com/office/drawing/2014/main" id="{68CA62C5-F403-B649-29EA-C6D846858BA3}"/>
              </a:ext>
            </a:extLst>
          </p:cNvPr>
          <p:cNvPicPr>
            <a:picLocks noChangeAspect="1"/>
          </p:cNvPicPr>
          <p:nvPr/>
        </p:nvPicPr>
        <p:blipFill>
          <a:blip r:embed="rId4"/>
          <a:stretch>
            <a:fillRect/>
          </a:stretch>
        </p:blipFill>
        <p:spPr>
          <a:xfrm>
            <a:off x="6280205" y="1162770"/>
            <a:ext cx="5266944" cy="1221462"/>
          </a:xfrm>
          <a:prstGeom prst="rect">
            <a:avLst/>
          </a:prstGeom>
          <a:ln w="15875">
            <a:solidFill>
              <a:srgbClr val="2E7CC4"/>
            </a:solidFill>
          </a:ln>
        </p:spPr>
      </p:pic>
      <p:sp>
        <p:nvSpPr>
          <p:cNvPr id="12" name="TextBox 11">
            <a:extLst>
              <a:ext uri="{FF2B5EF4-FFF2-40B4-BE49-F238E27FC236}">
                <a16:creationId xmlns:a16="http://schemas.microsoft.com/office/drawing/2014/main" id="{0E0E50DE-BE9F-3A6A-69ED-29FD69E0C506}"/>
              </a:ext>
            </a:extLst>
          </p:cNvPr>
          <p:cNvSpPr txBox="1"/>
          <p:nvPr/>
        </p:nvSpPr>
        <p:spPr>
          <a:xfrm>
            <a:off x="612249" y="2728018"/>
            <a:ext cx="10217427" cy="553998"/>
          </a:xfrm>
          <a:prstGeom prst="rect">
            <a:avLst/>
          </a:prstGeom>
          <a:noFill/>
        </p:spPr>
        <p:txBody>
          <a:bodyPr wrap="square" rtlCol="0">
            <a:spAutoFit/>
          </a:bodyPr>
          <a:lstStyle/>
          <a:p>
            <a:r>
              <a:rPr lang="en-GB" sz="1200" b="1" dirty="0">
                <a:solidFill>
                  <a:srgbClr val="34C185"/>
                </a:solidFill>
              </a:rPr>
              <a:t>3   </a:t>
            </a:r>
            <a:r>
              <a:rPr lang="en-GB" sz="1200" b="1" dirty="0">
                <a:solidFill>
                  <a:srgbClr val="FFFFFF"/>
                </a:solidFill>
              </a:rPr>
              <a:t>DETECTED — AMCAF returns IAM-03 FAIL, “2 guest users identified”</a:t>
            </a:r>
            <a:r>
              <a:rPr lang="en-GB" sz="1200" dirty="0">
                <a:solidFill>
                  <a:srgbClr val="8FA8C4"/>
                </a:solidFill>
              </a:rPr>
              <a:t>    </a:t>
            </a:r>
            <a:r>
              <a:rPr lang="en-GB" sz="1000" dirty="0">
                <a:solidFill>
                  <a:srgbClr val="8FA8C4"/>
                </a:solidFill>
              </a:rPr>
              <a:t>Fig. 4.13</a:t>
            </a:r>
          </a:p>
          <a:p>
            <a:endParaRPr lang="en-GB" dirty="0"/>
          </a:p>
        </p:txBody>
      </p:sp>
      <p:pic>
        <p:nvPicPr>
          <p:cNvPr id="14" name="Picture 13" descr="82035ce7-Figure_4.13__AMCAF_Dashboard_IAM03_FAIL_Detected.png">
            <a:extLst>
              <a:ext uri="{FF2B5EF4-FFF2-40B4-BE49-F238E27FC236}">
                <a16:creationId xmlns:a16="http://schemas.microsoft.com/office/drawing/2014/main" id="{69B09666-AC29-BD8A-8B20-8DBCE65685AE}"/>
              </a:ext>
            </a:extLst>
          </p:cNvPr>
          <p:cNvPicPr>
            <a:picLocks noChangeAspect="1"/>
          </p:cNvPicPr>
          <p:nvPr/>
        </p:nvPicPr>
        <p:blipFill>
          <a:blip r:embed="rId5"/>
          <a:stretch>
            <a:fillRect/>
          </a:stretch>
        </p:blipFill>
        <p:spPr>
          <a:xfrm>
            <a:off x="729797" y="3025659"/>
            <a:ext cx="10817352" cy="1945226"/>
          </a:xfrm>
          <a:prstGeom prst="rect">
            <a:avLst/>
          </a:prstGeom>
          <a:ln w="15875">
            <a:solidFill>
              <a:srgbClr val="2E7CC4"/>
            </a:solidFill>
          </a:ln>
        </p:spPr>
      </p:pic>
      <p:sp>
        <p:nvSpPr>
          <p:cNvPr id="16" name="TextBox 15">
            <a:extLst>
              <a:ext uri="{FF2B5EF4-FFF2-40B4-BE49-F238E27FC236}">
                <a16:creationId xmlns:a16="http://schemas.microsoft.com/office/drawing/2014/main" id="{7DCA597D-A983-2597-8CC4-049408BDE89A}"/>
              </a:ext>
            </a:extLst>
          </p:cNvPr>
          <p:cNvSpPr txBox="1"/>
          <p:nvPr/>
        </p:nvSpPr>
        <p:spPr>
          <a:xfrm>
            <a:off x="612249" y="5012170"/>
            <a:ext cx="10722071" cy="307777"/>
          </a:xfrm>
          <a:prstGeom prst="rect">
            <a:avLst/>
          </a:prstGeom>
          <a:noFill/>
        </p:spPr>
        <p:txBody>
          <a:bodyPr wrap="square" rtlCol="0">
            <a:spAutoFit/>
          </a:bodyPr>
          <a:lstStyle/>
          <a:p>
            <a:r>
              <a:rPr lang="en-GB" sz="1400" dirty="0">
                <a:solidFill>
                  <a:srgbClr val="C7D3E3"/>
                </a:solidFill>
              </a:rPr>
              <a:t>Microsoft Entra ID developer tenant. Posture returned to PASS within minutes of the guest accounts being removed.</a:t>
            </a:r>
          </a:p>
        </p:txBody>
      </p:sp>
      <p:sp>
        <p:nvSpPr>
          <p:cNvPr id="17" name="TextBox 16">
            <a:extLst>
              <a:ext uri="{FF2B5EF4-FFF2-40B4-BE49-F238E27FC236}">
                <a16:creationId xmlns:a16="http://schemas.microsoft.com/office/drawing/2014/main" id="{4B984F9F-6D3B-A80D-4FE5-1FB6241B0F12}"/>
              </a:ext>
            </a:extLst>
          </p:cNvPr>
          <p:cNvSpPr txBox="1"/>
          <p:nvPr/>
        </p:nvSpPr>
        <p:spPr>
          <a:xfrm>
            <a:off x="214685" y="5486400"/>
            <a:ext cx="11813914" cy="538609"/>
          </a:xfrm>
          <a:prstGeom prst="rect">
            <a:avLst/>
          </a:prstGeom>
          <a:noFill/>
        </p:spPr>
        <p:txBody>
          <a:bodyPr wrap="square" rtlCol="0">
            <a:spAutoFit/>
          </a:bodyPr>
          <a:lstStyle/>
          <a:p>
            <a:pPr algn="ctr"/>
            <a:r>
              <a:rPr lang="en-GB" sz="1100" i="1" dirty="0">
                <a:solidFill>
                  <a:schemeClr val="accent2">
                    <a:lumMod val="20000"/>
                    <a:lumOff val="80000"/>
                  </a:schemeClr>
                </a:solidFill>
              </a:rPr>
              <a:t>Detected from live Microsoft Graph telemetry, not a fixture, and the finding carries its full regulatory chain: DORA Art. 9, FCA PS21/3, ISO 27001 A.9, NIST CSF PR.AC, UK GDPR Art. 32.</a:t>
            </a:r>
          </a:p>
          <a:p>
            <a:endParaRPr lang="en-GB" dirty="0"/>
          </a:p>
        </p:txBody>
      </p:sp>
    </p:spTree>
    <p:extLst>
      <p:ext uri="{BB962C8B-B14F-4D97-AF65-F5344CB8AC3E}">
        <p14:creationId xmlns:p14="http://schemas.microsoft.com/office/powerpoint/2010/main" val="3995392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10896"/>
            <a:ext cx="10881360" cy="685800"/>
          </a:xfrm>
        </p:spPr>
        <p:txBody>
          <a:bodyPr wrap="square"/>
          <a:lstStyle/>
          <a:p>
            <a:r>
              <a:rPr sz="3200" b="0">
                <a:solidFill>
                  <a:srgbClr val="FFFFFF"/>
                </a:solidFill>
              </a:rPr>
              <a:t>Contributions and limitations</a:t>
            </a:r>
          </a:p>
        </p:txBody>
      </p:sp>
      <p:sp>
        <p:nvSpPr>
          <p:cNvPr id="3" name="Rectangle 2"/>
          <p:cNvSpPr/>
          <p:nvPr/>
        </p:nvSpPr>
        <p:spPr>
          <a:xfrm>
            <a:off x="685800" y="1060704"/>
            <a:ext cx="10881360" cy="20320"/>
          </a:xfrm>
          <a:prstGeom prst="rect">
            <a:avLst/>
          </a:prstGeom>
          <a:solidFill>
            <a:srgbClr val="2E7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85800" y="1371600"/>
            <a:ext cx="5349240" cy="457200"/>
          </a:xfrm>
          <a:prstGeom prst="roundRect">
            <a:avLst>
              <a:gd name="adj" fmla="val 16000"/>
            </a:avLst>
          </a:prstGeom>
          <a:solidFill>
            <a:srgbClr val="34C185"/>
          </a:solidFill>
          <a:ln w="19050">
            <a:solidFill>
              <a:srgbClr val="1E9463"/>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350" b="1" dirty="0">
                <a:solidFill>
                  <a:srgbClr val="1F2430"/>
                </a:solidFill>
              </a:rPr>
              <a:t>CONTRIBUTIONS</a:t>
            </a:r>
          </a:p>
        </p:txBody>
      </p:sp>
      <p:sp>
        <p:nvSpPr>
          <p:cNvPr id="5" name="Rounded Rectangle 4"/>
          <p:cNvSpPr/>
          <p:nvPr/>
        </p:nvSpPr>
        <p:spPr>
          <a:xfrm>
            <a:off x="6217920" y="1371600"/>
            <a:ext cx="5349240" cy="457200"/>
          </a:xfrm>
          <a:prstGeom prst="roundRect">
            <a:avLst>
              <a:gd name="adj" fmla="val 16000"/>
            </a:avLst>
          </a:prstGeom>
          <a:solidFill>
            <a:srgbClr val="F4A24C"/>
          </a:solidFill>
          <a:ln w="19050">
            <a:solidFill>
              <a:srgbClr val="D07C1F"/>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350" b="1">
                <a:solidFill>
                  <a:srgbClr val="1F2430"/>
                </a:solidFill>
              </a:rPr>
              <a:t>LIMITATIONS</a:t>
            </a:r>
          </a:p>
        </p:txBody>
      </p:sp>
      <p:sp>
        <p:nvSpPr>
          <p:cNvPr id="6" name="Rounded Rectangle 5"/>
          <p:cNvSpPr/>
          <p:nvPr/>
        </p:nvSpPr>
        <p:spPr>
          <a:xfrm>
            <a:off x="685800" y="1993392"/>
            <a:ext cx="5349240" cy="914400"/>
          </a:xfrm>
          <a:prstGeom prst="roundRect">
            <a:avLst>
              <a:gd name="adj" fmla="val 16000"/>
            </a:avLst>
          </a:prstGeom>
          <a:solidFill>
            <a:srgbClr val="0E3559"/>
          </a:solidFill>
          <a:ln w="15875">
            <a:solidFill>
              <a:srgbClr val="1E9463"/>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400" b="1">
                <a:solidFill>
                  <a:srgbClr val="FFFFFF"/>
                </a:solidFill>
              </a:rPr>
              <a:t>Provider-agnostic framework</a:t>
            </a:r>
          </a:p>
          <a:p>
            <a:pPr algn="l">
              <a:spcBef>
                <a:spcPts val="400"/>
              </a:spcBef>
            </a:pPr>
            <a:r>
              <a:rPr sz="1050" b="0">
                <a:solidFill>
                  <a:srgbClr val="C7D3E3"/>
                </a:solidFill>
              </a:rPr>
              <a:t>Designed and evaluated across AWS, Azure and GCP — a reusable architectural pattern.</a:t>
            </a:r>
          </a:p>
        </p:txBody>
      </p:sp>
      <p:sp>
        <p:nvSpPr>
          <p:cNvPr id="7" name="Rounded Rectangle 6"/>
          <p:cNvSpPr/>
          <p:nvPr/>
        </p:nvSpPr>
        <p:spPr>
          <a:xfrm>
            <a:off x="685800" y="3054096"/>
            <a:ext cx="5349240" cy="914400"/>
          </a:xfrm>
          <a:prstGeom prst="roundRect">
            <a:avLst>
              <a:gd name="adj" fmla="val 16000"/>
            </a:avLst>
          </a:prstGeom>
          <a:solidFill>
            <a:srgbClr val="0E3559"/>
          </a:solidFill>
          <a:ln w="15875">
            <a:solidFill>
              <a:srgbClr val="1E9463"/>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400" b="1">
                <a:solidFill>
                  <a:srgbClr val="FFFFFF"/>
                </a:solidFill>
              </a:rPr>
              <a:t>Technology-neutral taxonomy</a:t>
            </a:r>
          </a:p>
          <a:p>
            <a:pPr algn="l">
              <a:spcBef>
                <a:spcPts val="400"/>
              </a:spcBef>
            </a:pPr>
            <a:r>
              <a:rPr sz="1050" b="0">
                <a:solidFill>
                  <a:srgbClr val="C7D3E3"/>
                </a:solidFill>
              </a:rPr>
              <a:t>20 control objectives, 8 domains, 10 frameworks — useful independently of the prototype.</a:t>
            </a:r>
          </a:p>
        </p:txBody>
      </p:sp>
      <p:sp>
        <p:nvSpPr>
          <p:cNvPr id="8" name="Rounded Rectangle 7"/>
          <p:cNvSpPr/>
          <p:nvPr/>
        </p:nvSpPr>
        <p:spPr>
          <a:xfrm>
            <a:off x="685800" y="4114800"/>
            <a:ext cx="5349240" cy="914400"/>
          </a:xfrm>
          <a:prstGeom prst="roundRect">
            <a:avLst>
              <a:gd name="adj" fmla="val 16000"/>
            </a:avLst>
          </a:prstGeom>
          <a:solidFill>
            <a:srgbClr val="0E3559"/>
          </a:solidFill>
          <a:ln w="15875">
            <a:solidFill>
              <a:srgbClr val="1E9463"/>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400" b="1">
                <a:solidFill>
                  <a:srgbClr val="FFFFFF"/>
                </a:solidFill>
              </a:rPr>
              <a:t>Live testing exposes blind spots</a:t>
            </a:r>
          </a:p>
          <a:p>
            <a:pPr algn="l">
              <a:spcBef>
                <a:spcPts val="400"/>
              </a:spcBef>
            </a:pPr>
            <a:r>
              <a:rPr sz="1050" b="0">
                <a:solidFill>
                  <a:srgbClr val="C7D3E3"/>
                </a:solidFill>
              </a:rPr>
              <a:t>Unanticipated methodological finding: synthetic-only validation can hide coverage gaps.</a:t>
            </a:r>
          </a:p>
        </p:txBody>
      </p:sp>
      <p:sp>
        <p:nvSpPr>
          <p:cNvPr id="9" name="Rounded Rectangle 8"/>
          <p:cNvSpPr/>
          <p:nvPr/>
        </p:nvSpPr>
        <p:spPr>
          <a:xfrm>
            <a:off x="6217920" y="1993392"/>
            <a:ext cx="5349240" cy="658368"/>
          </a:xfrm>
          <a:prstGeom prst="roundRect">
            <a:avLst>
              <a:gd name="adj" fmla="val 16000"/>
            </a:avLst>
          </a:prstGeom>
          <a:solidFill>
            <a:srgbClr val="0E3559"/>
          </a:solidFill>
          <a:ln w="15875">
            <a:solidFill>
              <a:srgbClr val="D07C1F"/>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100" b="0">
                <a:solidFill>
                  <a:srgbClr val="FFFFFF"/>
                </a:solidFill>
              </a:rPr>
              <a:t>Live testing ran in personal research environments, not a production estate.</a:t>
            </a:r>
          </a:p>
        </p:txBody>
      </p:sp>
      <p:sp>
        <p:nvSpPr>
          <p:cNvPr id="10" name="Rounded Rectangle 9"/>
          <p:cNvSpPr/>
          <p:nvPr/>
        </p:nvSpPr>
        <p:spPr>
          <a:xfrm>
            <a:off x="6217920" y="2788920"/>
            <a:ext cx="5349240" cy="658368"/>
          </a:xfrm>
          <a:prstGeom prst="roundRect">
            <a:avLst>
              <a:gd name="adj" fmla="val 16000"/>
            </a:avLst>
          </a:prstGeom>
          <a:solidFill>
            <a:srgbClr val="0E3559"/>
          </a:solidFill>
          <a:ln w="15875">
            <a:solidFill>
              <a:srgbClr val="D07C1F"/>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100" b="0">
                <a:solidFill>
                  <a:srgbClr val="FFFFFF"/>
                </a:solidFill>
              </a:rPr>
              <a:t>Five organisational controls evaluated synthetically, not against live processes.</a:t>
            </a:r>
          </a:p>
        </p:txBody>
      </p:sp>
      <p:sp>
        <p:nvSpPr>
          <p:cNvPr id="11" name="Rounded Rectangle 10"/>
          <p:cNvSpPr/>
          <p:nvPr/>
        </p:nvSpPr>
        <p:spPr>
          <a:xfrm>
            <a:off x="6217920" y="3584448"/>
            <a:ext cx="5349240" cy="658368"/>
          </a:xfrm>
          <a:prstGeom prst="roundRect">
            <a:avLst>
              <a:gd name="adj" fmla="val 16000"/>
            </a:avLst>
          </a:prstGeom>
          <a:solidFill>
            <a:srgbClr val="0E3559"/>
          </a:solidFill>
          <a:ln w="15875">
            <a:solidFill>
              <a:srgbClr val="D07C1F"/>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100" b="0">
                <a:solidFill>
                  <a:srgbClr val="FFFFFF"/>
                </a:solidFill>
              </a:rPr>
              <a:t>Cross-cloud mapping is static and will degrade as provider services evolve.</a:t>
            </a:r>
          </a:p>
        </p:txBody>
      </p:sp>
      <p:sp>
        <p:nvSpPr>
          <p:cNvPr id="12" name="Rounded Rectangle 11"/>
          <p:cNvSpPr/>
          <p:nvPr/>
        </p:nvSpPr>
        <p:spPr>
          <a:xfrm>
            <a:off x="6217920" y="4379976"/>
            <a:ext cx="5349240" cy="658368"/>
          </a:xfrm>
          <a:prstGeom prst="roundRect">
            <a:avLst>
              <a:gd name="adj" fmla="val 16000"/>
            </a:avLst>
          </a:prstGeom>
          <a:solidFill>
            <a:srgbClr val="0E3559"/>
          </a:solidFill>
          <a:ln w="15875">
            <a:solidFill>
              <a:srgbClr val="D07C1F"/>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l"/>
            <a:r>
              <a:rPr sz="1100" b="0">
                <a:solidFill>
                  <a:srgbClr val="FFFFFF"/>
                </a:solidFill>
              </a:rPr>
              <a:t>Regulatory mappings are the researcher's interpretation — not validated by counsel.</a:t>
            </a:r>
          </a:p>
        </p:txBody>
      </p:sp>
      <p:sp>
        <p:nvSpPr>
          <p:cNvPr id="13" name="Rounded Rectangle 12"/>
          <p:cNvSpPr/>
          <p:nvPr/>
        </p:nvSpPr>
        <p:spPr>
          <a:xfrm>
            <a:off x="685800" y="5358384"/>
            <a:ext cx="10881360" cy="713232"/>
          </a:xfrm>
          <a:prstGeom prst="roundRect">
            <a:avLst>
              <a:gd name="adj" fmla="val 16000"/>
            </a:avLst>
          </a:prstGeom>
          <a:solidFill>
            <a:srgbClr val="08243F"/>
          </a:solidFill>
          <a:ln w="19050">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300" b="1">
                <a:solidFill>
                  <a:srgbClr val="C7D3E3"/>
                </a:solidFill>
              </a:rPr>
              <a:t>Artificial evaluation — technical feasibility, not production-scale effectiveness (Johannesson and Perjons, 2021)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10896"/>
            <a:ext cx="10881360" cy="685800"/>
          </a:xfrm>
        </p:spPr>
        <p:txBody>
          <a:bodyPr wrap="square"/>
          <a:lstStyle/>
          <a:p>
            <a:r>
              <a:rPr sz="3200" b="0" dirty="0">
                <a:solidFill>
                  <a:srgbClr val="FFFFFF"/>
                </a:solidFill>
              </a:rPr>
              <a:t>Conclusion</a:t>
            </a:r>
          </a:p>
        </p:txBody>
      </p:sp>
      <p:sp>
        <p:nvSpPr>
          <p:cNvPr id="3" name="Rectangle 2"/>
          <p:cNvSpPr/>
          <p:nvPr/>
        </p:nvSpPr>
        <p:spPr>
          <a:xfrm>
            <a:off x="685800" y="1060704"/>
            <a:ext cx="10881360" cy="20320"/>
          </a:xfrm>
          <a:prstGeom prst="rect">
            <a:avLst/>
          </a:prstGeom>
          <a:solidFill>
            <a:srgbClr val="2E7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85800" y="1371600"/>
            <a:ext cx="10881360" cy="914400"/>
          </a:xfrm>
          <a:prstGeom prst="roundRect">
            <a:avLst>
              <a:gd name="adj" fmla="val 16000"/>
            </a:avLst>
          </a:prstGeom>
          <a:solidFill>
            <a:srgbClr val="08243F"/>
          </a:solidFill>
          <a:ln w="2222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700" b="1">
                <a:solidFill>
                  <a:srgbClr val="FFFFFF"/>
                </a:solidFill>
              </a:rPr>
              <a:t>Regulatory control objectives can be consistently associated and verified across cloud platforms.</a:t>
            </a:r>
          </a:p>
          <a:p>
            <a:pPr algn="ctr">
              <a:spcBef>
                <a:spcPts val="400"/>
              </a:spcBef>
            </a:pPr>
            <a:r>
              <a:rPr sz="1100" b="0">
                <a:solidFill>
                  <a:srgbClr val="C7D3E3"/>
                </a:solidFill>
              </a:rPr>
              <a:t>A validated architectural foundation — the design pattern, the taxonomy and the proof of concept.</a:t>
            </a:r>
          </a:p>
        </p:txBody>
      </p:sp>
      <p:sp>
        <p:nvSpPr>
          <p:cNvPr id="5" name="TextBox 4"/>
          <p:cNvSpPr txBox="1"/>
          <p:nvPr/>
        </p:nvSpPr>
        <p:spPr>
          <a:xfrm>
            <a:off x="685800" y="2924120"/>
            <a:ext cx="10881360" cy="256032"/>
          </a:xfrm>
          <a:prstGeom prst="rect">
            <a:avLst/>
          </a:prstGeom>
          <a:noFill/>
        </p:spPr>
        <p:txBody>
          <a:bodyPr wrap="square" lIns="0" tIns="0" rIns="0" bIns="0" anchor="t">
            <a:spAutoFit/>
          </a:bodyPr>
          <a:lstStyle/>
          <a:p>
            <a:pPr algn="l"/>
            <a:r>
              <a:rPr sz="1150" b="1">
                <a:solidFill>
                  <a:srgbClr val="34C185"/>
                </a:solidFill>
              </a:rPr>
              <a:t>WHAT REMAINS</a:t>
            </a:r>
          </a:p>
        </p:txBody>
      </p:sp>
      <p:sp>
        <p:nvSpPr>
          <p:cNvPr id="6" name="Rounded Rectangle 5"/>
          <p:cNvSpPr/>
          <p:nvPr/>
        </p:nvSpPr>
        <p:spPr>
          <a:xfrm>
            <a:off x="685800" y="3235016"/>
            <a:ext cx="2596896" cy="731520"/>
          </a:xfrm>
          <a:prstGeom prst="roundRect">
            <a:avLst>
              <a:gd name="adj" fmla="val 16000"/>
            </a:avLst>
          </a:prstGeom>
          <a:solidFill>
            <a:srgbClr val="0E3559"/>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250" b="1">
                <a:solidFill>
                  <a:srgbClr val="FFFFFF"/>
                </a:solidFill>
              </a:rPr>
              <a:t>1   Live data at scale</a:t>
            </a:r>
          </a:p>
        </p:txBody>
      </p:sp>
      <p:sp>
        <p:nvSpPr>
          <p:cNvPr id="7" name="Rounded Rectangle 6"/>
          <p:cNvSpPr/>
          <p:nvPr/>
        </p:nvSpPr>
        <p:spPr>
          <a:xfrm>
            <a:off x="3447288" y="3235016"/>
            <a:ext cx="2596896" cy="731520"/>
          </a:xfrm>
          <a:prstGeom prst="roundRect">
            <a:avLst>
              <a:gd name="adj" fmla="val 16000"/>
            </a:avLst>
          </a:prstGeom>
          <a:solidFill>
            <a:srgbClr val="0E3559"/>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250" b="1">
                <a:solidFill>
                  <a:srgbClr val="FFFFFF"/>
                </a:solidFill>
              </a:rPr>
              <a:t>2   Weighted risk scoring</a:t>
            </a:r>
          </a:p>
        </p:txBody>
      </p:sp>
      <p:sp>
        <p:nvSpPr>
          <p:cNvPr id="8" name="Rounded Rectangle 7"/>
          <p:cNvSpPr/>
          <p:nvPr/>
        </p:nvSpPr>
        <p:spPr>
          <a:xfrm>
            <a:off x="6208776" y="3235016"/>
            <a:ext cx="2596896" cy="731520"/>
          </a:xfrm>
          <a:prstGeom prst="roundRect">
            <a:avLst>
              <a:gd name="adj" fmla="val 16000"/>
            </a:avLst>
          </a:prstGeom>
          <a:solidFill>
            <a:srgbClr val="0E3559"/>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250" b="1">
                <a:solidFill>
                  <a:srgbClr val="FFFFFF"/>
                </a:solidFill>
              </a:rPr>
              <a:t>3   Dynamic mapping maintenance</a:t>
            </a:r>
          </a:p>
        </p:txBody>
      </p:sp>
      <p:sp>
        <p:nvSpPr>
          <p:cNvPr id="9" name="Rounded Rectangle 8"/>
          <p:cNvSpPr/>
          <p:nvPr/>
        </p:nvSpPr>
        <p:spPr>
          <a:xfrm>
            <a:off x="8970264" y="3235016"/>
            <a:ext cx="2596896" cy="731520"/>
          </a:xfrm>
          <a:prstGeom prst="roundRect">
            <a:avLst>
              <a:gd name="adj" fmla="val 16000"/>
            </a:avLst>
          </a:prstGeom>
          <a:solidFill>
            <a:srgbClr val="0E3559"/>
          </a:solidFill>
          <a:ln w="15875">
            <a:solidFill>
              <a:srgbClr val="2E7CC4"/>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250" b="1">
                <a:solidFill>
                  <a:srgbClr val="FFFFFF"/>
                </a:solidFill>
              </a:rPr>
              <a:t>4   Explainable anomaly detection</a:t>
            </a:r>
          </a:p>
        </p:txBody>
      </p:sp>
      <p:sp>
        <p:nvSpPr>
          <p:cNvPr id="13" name="Rounded Rectangle 12"/>
          <p:cNvSpPr/>
          <p:nvPr/>
        </p:nvSpPr>
        <p:spPr>
          <a:xfrm>
            <a:off x="685800" y="4787537"/>
            <a:ext cx="10881360" cy="566928"/>
          </a:xfrm>
          <a:prstGeom prst="roundRect">
            <a:avLst>
              <a:gd name="adj" fmla="val 16000"/>
            </a:avLst>
          </a:prstGeom>
          <a:solidFill>
            <a:srgbClr val="08243F"/>
          </a:solidFill>
          <a:ln w="19050">
            <a:solidFill>
              <a:srgbClr val="1E9463"/>
            </a:solidFill>
          </a:ln>
          <a:effectLst/>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lstStyle/>
          <a:p>
            <a:pPr algn="ctr"/>
            <a:r>
              <a:rPr sz="1400" b="1">
                <a:solidFill>
                  <a:srgbClr val="34C185"/>
                </a:solidFill>
              </a:rPr>
              <a:t>Live evidence:  dma-1970.github.io/AMCAF</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D3D78-5950-9071-6E3E-CF8F3008A021}"/>
              </a:ext>
            </a:extLst>
          </p:cNvPr>
          <p:cNvSpPr>
            <a:spLocks noGrp="1"/>
          </p:cNvSpPr>
          <p:nvPr>
            <p:ph type="title"/>
          </p:nvPr>
        </p:nvSpPr>
        <p:spPr>
          <a:xfrm>
            <a:off x="519248" y="58148"/>
            <a:ext cx="10515600" cy="666841"/>
          </a:xfrm>
        </p:spPr>
        <p:txBody>
          <a:bodyPr>
            <a:normAutofit/>
          </a:bodyPr>
          <a:lstStyle/>
          <a:p>
            <a:r>
              <a:rPr lang="en-GB" sz="3200" dirty="0"/>
              <a:t>References</a:t>
            </a:r>
          </a:p>
        </p:txBody>
      </p:sp>
      <p:sp>
        <p:nvSpPr>
          <p:cNvPr id="3" name="TextBox 2">
            <a:extLst>
              <a:ext uri="{FF2B5EF4-FFF2-40B4-BE49-F238E27FC236}">
                <a16:creationId xmlns:a16="http://schemas.microsoft.com/office/drawing/2014/main" id="{DB18832A-D7FC-15BA-4874-926C5DC2C0F6}"/>
              </a:ext>
            </a:extLst>
          </p:cNvPr>
          <p:cNvSpPr txBox="1"/>
          <p:nvPr/>
        </p:nvSpPr>
        <p:spPr>
          <a:xfrm>
            <a:off x="463731" y="862148"/>
            <a:ext cx="11109960" cy="5909310"/>
          </a:xfrm>
          <a:prstGeom prst="rect">
            <a:avLst/>
          </a:prstGeom>
          <a:noFill/>
        </p:spPr>
        <p:txBody>
          <a:bodyPr wrap="square" rtlCol="0">
            <a:spAutoFit/>
          </a:bodyPr>
          <a:lstStyle/>
          <a:p>
            <a:r>
              <a:rPr lang="en-GB" sz="1000" dirty="0"/>
              <a:t>Abdulsalam, Y.S. and Hedabou, M. (2022) ‘Security and privacy in cloud computing: Technical review’, </a:t>
            </a:r>
            <a:r>
              <a:rPr lang="en-GB" sz="1000" i="1" dirty="0"/>
              <a:t>Future Internet</a:t>
            </a:r>
            <a:r>
              <a:rPr lang="en-GB" sz="1000" dirty="0"/>
              <a:t>, 14(1). Available at: https://doi.org/10.3390/fi14010011</a:t>
            </a:r>
          </a:p>
          <a:p>
            <a:r>
              <a:rPr lang="en-GB" sz="1000" dirty="0"/>
              <a:t> </a:t>
            </a:r>
          </a:p>
          <a:p>
            <a:r>
              <a:rPr lang="en-GB" sz="1000" dirty="0"/>
              <a:t>Chauhan, M. and Shiaeles, S. (2023) ‘An analysis of cloud security frameworks, problems and proposed solutions’, </a:t>
            </a:r>
            <a:r>
              <a:rPr lang="en-GB" sz="1000" i="1" dirty="0"/>
              <a:t>Network</a:t>
            </a:r>
            <a:r>
              <a:rPr lang="en-GB" sz="1000" dirty="0"/>
              <a:t>, 3(3), pp. 422–450. Available at: https://doi.org/10.3390/network3030018</a:t>
            </a:r>
          </a:p>
          <a:p>
            <a:r>
              <a:rPr lang="en-GB" sz="1000" dirty="0"/>
              <a:t> </a:t>
            </a:r>
          </a:p>
          <a:p>
            <a:r>
              <a:rPr lang="en-GB" sz="1000" dirty="0"/>
              <a:t>Cinar, B. (2023) ‘The Role of Cloud Service Brokers: Enhancing Security and Compliance in Multi-cloud Environments’, </a:t>
            </a:r>
            <a:r>
              <a:rPr lang="en-GB" sz="1000" i="1" dirty="0"/>
              <a:t>Journal of Engineering Research and Reports</a:t>
            </a:r>
            <a:r>
              <a:rPr lang="en-GB" sz="1000" dirty="0"/>
              <a:t>, 25(10), pp. 1–11. Available at: https://doi.org/10.9734/jerr/2023/v25i10995</a:t>
            </a:r>
          </a:p>
          <a:p>
            <a:r>
              <a:rPr lang="en-GB" sz="1000" dirty="0"/>
              <a:t> </a:t>
            </a:r>
          </a:p>
          <a:p>
            <a:r>
              <a:rPr lang="en-GB" sz="1000" dirty="0"/>
              <a:t>Eulerich, M., Masli, A., Pickerd, J. and Wood, D.A. (2023) ‘The impact of audit technology on audit task outcomes: Evidence for technology-based audit techniques’, </a:t>
            </a:r>
            <a:r>
              <a:rPr lang="en-GB" sz="1000" i="1" dirty="0"/>
              <a:t>Contemporary Accounting Research</a:t>
            </a:r>
            <a:r>
              <a:rPr lang="en-GB" sz="1000" dirty="0"/>
              <a:t>, 40(2), pp. 981–1012. Available at: https://doi.org/10.1111/1911-3846.12847</a:t>
            </a:r>
          </a:p>
          <a:p>
            <a:r>
              <a:rPr lang="en-GB" sz="1000" dirty="0"/>
              <a:t> </a:t>
            </a:r>
          </a:p>
          <a:p>
            <a:r>
              <a:rPr lang="en-GB" sz="1000" dirty="0"/>
              <a:t>Gregor, S. and Zwikael, O. (2024) ‘Design science research and the co-creation of project management knowledge’, </a:t>
            </a:r>
            <a:r>
              <a:rPr lang="en-GB" sz="1000" i="1" dirty="0"/>
              <a:t>International Journal of Project Management</a:t>
            </a:r>
            <a:r>
              <a:rPr lang="en-GB" sz="1000" dirty="0"/>
              <a:t>, 42(3), article 102584. Available at: https://doi.org/10.1016/j.ijproman.2024.102584</a:t>
            </a:r>
          </a:p>
          <a:p>
            <a:r>
              <a:rPr lang="en-GB" sz="1000" dirty="0"/>
              <a:t> </a:t>
            </a:r>
          </a:p>
          <a:p>
            <a:r>
              <a:rPr lang="en-GB" sz="1000" dirty="0"/>
              <a:t>Hevner, A.R. (2007) ‘A Three Cycle View of Design Science Research’, </a:t>
            </a:r>
            <a:r>
              <a:rPr lang="en-GB" sz="1000" i="1" dirty="0"/>
              <a:t>Scandinavian Journal of Information Systems</a:t>
            </a:r>
            <a:r>
              <a:rPr lang="en-GB" sz="1000" dirty="0"/>
              <a:t>, 19(2), pp. 87–92.</a:t>
            </a:r>
          </a:p>
          <a:p>
            <a:r>
              <a:rPr lang="en-GB" sz="1000" dirty="0"/>
              <a:t> </a:t>
            </a:r>
          </a:p>
          <a:p>
            <a:r>
              <a:rPr lang="en-GB" sz="1000" dirty="0"/>
              <a:t>Hope, O.S. (2023) ‘Multi-cloud strategy for enterprise applications: Cost, performance, and resilience considerations’, </a:t>
            </a:r>
            <a:r>
              <a:rPr lang="en-GB" sz="1000" i="1" dirty="0"/>
              <a:t>International Journal of Cloud Computing and Database Management</a:t>
            </a:r>
            <a:r>
              <a:rPr lang="en-GB" sz="1000" dirty="0"/>
              <a:t>, 4(1), pp. 63–73. Available at: https://doi.org/10.33545/27075907.2023.v4.i1a.104</a:t>
            </a:r>
          </a:p>
          <a:p>
            <a:r>
              <a:rPr lang="en-GB" sz="1000" dirty="0"/>
              <a:t> </a:t>
            </a:r>
          </a:p>
          <a:p>
            <a:r>
              <a:rPr lang="en-GB" sz="1000" dirty="0"/>
              <a:t>Ismail, U.M. and Islam, S. (2020) ‘A unified framework for cloud security transparency and audit’, </a:t>
            </a:r>
            <a:r>
              <a:rPr lang="en-GB" sz="1000" i="1" dirty="0"/>
              <a:t>Journal of Information Security and Applications</a:t>
            </a:r>
            <a:r>
              <a:rPr lang="en-GB" sz="1000" dirty="0"/>
              <a:t>, 54, p. 102594. Available at: https://doi.org/10.1016/j.jisa.2020.102594</a:t>
            </a:r>
          </a:p>
          <a:p>
            <a:r>
              <a:rPr lang="en-GB" sz="1000" dirty="0"/>
              <a:t> </a:t>
            </a:r>
          </a:p>
          <a:p>
            <a:r>
              <a:rPr lang="en-GB" sz="1000" dirty="0"/>
              <a:t>Johannesson, P. and Perjons, E. (2021) </a:t>
            </a:r>
            <a:r>
              <a:rPr lang="en-GB" sz="1000" i="1" dirty="0"/>
              <a:t>An Introduction to Design Science</a:t>
            </a:r>
            <a:r>
              <a:rPr lang="en-GB" sz="1000" dirty="0"/>
              <a:t>. 2nd edn. Cham: Springer Nature Switzerland AG. Available at: https://doi.org/10.1007/978-3-030-78132-3</a:t>
            </a:r>
          </a:p>
          <a:p>
            <a:r>
              <a:rPr lang="en-GB" sz="1000" dirty="0"/>
              <a:t> </a:t>
            </a:r>
          </a:p>
          <a:p>
            <a:r>
              <a:rPr lang="en-GB" sz="1000" dirty="0"/>
              <a:t>Katari, A. and Ankam, M. (2022) ‘Data governance in multi-cloud environments for financial services: Challenges and solutions’, </a:t>
            </a:r>
            <a:r>
              <a:rPr lang="en-GB" sz="1000" i="1" dirty="0"/>
              <a:t>International Journal of Multidisciplinary and Current Educational Research</a:t>
            </a:r>
            <a:r>
              <a:rPr lang="en-GB" sz="1000" dirty="0"/>
              <a:t>, 4(1), pp. 339–353. Available at: https://www.ijmcer.com/wp-content/uploads/2024/10/IJMCER_NN0410339353.pdf (Accessed: 4 March 2026).</a:t>
            </a:r>
          </a:p>
          <a:p>
            <a:r>
              <a:rPr lang="en-GB" sz="1000" dirty="0"/>
              <a:t> </a:t>
            </a:r>
          </a:p>
          <a:p>
            <a:r>
              <a:rPr lang="en-GB" sz="1000" dirty="0"/>
              <a:t>Odion, S. and Addula, S.R. (2026) ‘AI Risk Governance for Advancing Digital Sovereignty in Data-Driven Systems: An Integrated Multi-Layer Framework’, </a:t>
            </a:r>
            <a:r>
              <a:rPr lang="en-GB" sz="1000" i="1" dirty="0"/>
              <a:t>Future Internet</a:t>
            </a:r>
            <a:r>
              <a:rPr lang="en-GB" sz="1000" dirty="0"/>
              <a:t>, 18(4), article 209. Available at: https://doi.org/10.3390/fi18040209</a:t>
            </a:r>
          </a:p>
          <a:p>
            <a:r>
              <a:rPr lang="en-GB" sz="1000" dirty="0"/>
              <a:t>Opara-Martins, J., Sahandi, R. and Tian, F. (2016) ‘Critical analysis of vendor lock-in and its impact on cloud computing migration: a business perspective’, </a:t>
            </a:r>
            <a:r>
              <a:rPr lang="en-GB" sz="1000" i="1" dirty="0"/>
              <a:t>Journal of Cloud Computing: Advances, Systems and Applications</a:t>
            </a:r>
            <a:r>
              <a:rPr lang="en-GB" sz="1000" dirty="0"/>
              <a:t>, 5, article 4. Available at: https://doi.org/10.1186/s13677-016-0054-z</a:t>
            </a:r>
          </a:p>
          <a:p>
            <a:r>
              <a:rPr lang="en-GB" sz="1000" dirty="0"/>
              <a:t> </a:t>
            </a:r>
          </a:p>
          <a:p>
            <a:r>
              <a:rPr lang="en-GB" sz="1000" dirty="0"/>
              <a:t>Torkura, K.A., Sukmana, M.I.H., Cheng, F. and Meinel, C. (2021) ‘Continuous auditing and threat detection in multi-cloud infrastructure’, </a:t>
            </a:r>
            <a:r>
              <a:rPr lang="en-GB" sz="1000" i="1" dirty="0"/>
              <a:t>Computers &amp; Security</a:t>
            </a:r>
            <a:r>
              <a:rPr lang="en-GB" sz="1000" dirty="0"/>
              <a:t>, 102, article 102124. Available at: https://doi.org/10.1016/j.cose.2020.102124</a:t>
            </a:r>
          </a:p>
          <a:p>
            <a:r>
              <a:rPr lang="en-GB" sz="1000" dirty="0"/>
              <a:t> </a:t>
            </a:r>
          </a:p>
          <a:p>
            <a:r>
              <a:rPr lang="en-GB" sz="1000" dirty="0"/>
              <a:t>Tuunanen, T., Winter, R. and vom Brocke, J. (2024) ‘Dealing with Complexity in Design Science Research: A Methodology Using Design Echelons’, </a:t>
            </a:r>
            <a:r>
              <a:rPr lang="en-GB" sz="1000" i="1" dirty="0"/>
              <a:t>MIS Quarterly</a:t>
            </a:r>
            <a:r>
              <a:rPr lang="en-GB" sz="1000" dirty="0"/>
              <a:t>, 48(2), pp. 427–458. Available at: https://doi.org/10.25300/MISQ/2023/16700</a:t>
            </a:r>
          </a:p>
          <a:p>
            <a:r>
              <a:rPr lang="en-GB" sz="900" dirty="0"/>
              <a:t>  </a:t>
            </a:r>
          </a:p>
          <a:p>
            <a:r>
              <a:rPr lang="en-GB" sz="900" dirty="0"/>
              <a:t> </a:t>
            </a:r>
          </a:p>
        </p:txBody>
      </p:sp>
    </p:spTree>
    <p:extLst>
      <p:ext uri="{BB962C8B-B14F-4D97-AF65-F5344CB8AC3E}">
        <p14:creationId xmlns:p14="http://schemas.microsoft.com/office/powerpoint/2010/main" val="3682751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CD32D-174B-D003-EB8D-1442EAEA3258}"/>
              </a:ext>
            </a:extLst>
          </p:cNvPr>
          <p:cNvSpPr>
            <a:spLocks noGrp="1"/>
          </p:cNvSpPr>
          <p:nvPr>
            <p:ph type="title"/>
          </p:nvPr>
        </p:nvSpPr>
        <p:spPr>
          <a:xfrm>
            <a:off x="838200" y="365125"/>
            <a:ext cx="10515600" cy="929103"/>
          </a:xfrm>
        </p:spPr>
        <p:txBody>
          <a:bodyPr>
            <a:normAutofit/>
          </a:bodyPr>
          <a:lstStyle/>
          <a:p>
            <a:r>
              <a:rPr lang="en-GB" sz="3200" dirty="0"/>
              <a:t>Declaration</a:t>
            </a:r>
          </a:p>
        </p:txBody>
      </p:sp>
      <p:sp>
        <p:nvSpPr>
          <p:cNvPr id="4" name="TextBox 3">
            <a:extLst>
              <a:ext uri="{FF2B5EF4-FFF2-40B4-BE49-F238E27FC236}">
                <a16:creationId xmlns:a16="http://schemas.microsoft.com/office/drawing/2014/main" id="{E9FF2E51-A039-E6BD-AA49-7A3B5E069D9C}"/>
              </a:ext>
            </a:extLst>
          </p:cNvPr>
          <p:cNvSpPr txBox="1"/>
          <p:nvPr/>
        </p:nvSpPr>
        <p:spPr>
          <a:xfrm>
            <a:off x="633046" y="2086654"/>
            <a:ext cx="10720754" cy="3009542"/>
          </a:xfrm>
          <a:prstGeom prst="rect">
            <a:avLst/>
          </a:prstGeom>
          <a:noFill/>
        </p:spPr>
        <p:txBody>
          <a:bodyPr wrap="square">
            <a:spAutoFit/>
          </a:bodyPr>
          <a:lstStyle/>
          <a:p>
            <a:pPr>
              <a:lnSpc>
                <a:spcPct val="150000"/>
              </a:lnSpc>
            </a:pPr>
            <a:r>
              <a:rPr lang="en-GB" sz="1600" b="0" i="0" u="none" strike="noStrike" baseline="0" dirty="0">
                <a:latin typeface="Times New Roman" panose="02020603050405020304" pitchFamily="18" charset="0"/>
              </a:rPr>
              <a:t>I declare that </a:t>
            </a:r>
            <a:r>
              <a:rPr lang="en-GB" sz="1600" b="0" i="0" u="none" strike="noStrike" baseline="0">
                <a:latin typeface="Times New Roman" panose="02020603050405020304" pitchFamily="18" charset="0"/>
              </a:rPr>
              <a:t>this </a:t>
            </a:r>
            <a:r>
              <a:rPr lang="en-GB" sz="1600">
                <a:latin typeface="Times New Roman" panose="02020603050405020304" pitchFamily="18" charset="0"/>
              </a:rPr>
              <a:t>presentation</a:t>
            </a:r>
            <a:r>
              <a:rPr lang="en-GB" sz="1600" b="0" i="0" u="none" strike="noStrike" baseline="0">
                <a:latin typeface="Times New Roman" panose="02020603050405020304" pitchFamily="18" charset="0"/>
              </a:rPr>
              <a:t> </a:t>
            </a:r>
            <a:r>
              <a:rPr lang="en-GB" sz="1600" b="0" i="0" u="none" strike="noStrike" baseline="0" dirty="0">
                <a:latin typeface="Times New Roman" panose="02020603050405020304" pitchFamily="18" charset="0"/>
              </a:rPr>
              <a:t>is my own work and has not been submitted for any other award. The research design, the AMCAF framework, the prototype implementation, the testing, the analysis and the conclusions are my own. The source code is published at github.com/DMA-1970/AMCAF, where the commit history records its development. </a:t>
            </a:r>
          </a:p>
          <a:p>
            <a:pPr>
              <a:lnSpc>
                <a:spcPct val="150000"/>
              </a:lnSpc>
            </a:pPr>
            <a:r>
              <a:rPr lang="en-GB" sz="1600" b="0" i="0" u="none" strike="noStrike" baseline="0" dirty="0">
                <a:latin typeface="Times New Roman" panose="02020603050405020304" pitchFamily="18" charset="0"/>
              </a:rPr>
              <a:t>I used OpenAI ChatGPT and Anthropic's Claude (2026 versions) as supporting review and editorial tools. They assisted with reviewing structure, identifying repetition and internal inconsistencies, and suggesting improvements to clarity and academic expression. </a:t>
            </a:r>
          </a:p>
          <a:p>
            <a:pPr>
              <a:lnSpc>
                <a:spcPct val="150000"/>
              </a:lnSpc>
            </a:pPr>
            <a:r>
              <a:rPr lang="en-GB" sz="1600" b="0" i="0" u="none" strike="noStrike" baseline="0" dirty="0">
                <a:latin typeface="Times New Roman" panose="02020603050405020304" pitchFamily="18" charset="0"/>
              </a:rPr>
              <a:t>I critically evaluated and revised all suggestions and independently verified factual claims and references against the sources. I remain responsible for the accuracy and academic integrity of the submitted work. </a:t>
            </a:r>
            <a:endParaRPr lang="en-GB" sz="1600" dirty="0"/>
          </a:p>
        </p:txBody>
      </p:sp>
    </p:spTree>
    <p:extLst>
      <p:ext uri="{BB962C8B-B14F-4D97-AF65-F5344CB8AC3E}">
        <p14:creationId xmlns:p14="http://schemas.microsoft.com/office/powerpoint/2010/main" val="2650323359"/>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E0B2B64-B2D5-4BC5-8C98-11160265813F}">
  <we:reference id="wa200010725" version="1.0.0.1" store="en-US" storeType="OMEX"/>
  <we:alternateReferences>
    <we:reference id="wa200010725" version="1.0.0.1" store="en-US" storeType="OMEX"/>
  </we:alternateReferences>
  <we:properties>
    <we:property name="claude.fileId" value="&quot;96caaeee-2968-47f1-b49c-c32fba1a4ba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Dark Gradient</Template>
  <TotalTime>2015</TotalTime>
  <Words>4295</Words>
  <Application>Microsoft Office PowerPoint</Application>
  <PresentationFormat>Widescreen</PresentationFormat>
  <Paragraphs>291</Paragraphs>
  <Slides>16</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Times New Roman</vt:lpstr>
      <vt:lpstr>Office Theme</vt:lpstr>
      <vt:lpstr>AMCAF</vt:lpstr>
      <vt:lpstr>PowerPoint Presentation</vt:lpstr>
      <vt:lpstr>The Problem: Multi-Cloud Governance Gap</vt:lpstr>
      <vt:lpstr>PowerPoint Presentation</vt:lpstr>
      <vt:lpstr>PowerPoint Presentation</vt:lpstr>
      <vt:lpstr>Application of Design Science Research</vt:lpstr>
      <vt:lpstr>AMCAF – a four-layer architecture</vt:lpstr>
      <vt:lpstr>Implementation and evaluation</vt:lpstr>
      <vt:lpstr>NET-03 — one control, three clouds, live</vt:lpstr>
      <vt:lpstr>Live evidence — NET-03 on AWS and Google Cloud</vt:lpstr>
      <vt:lpstr>Traceability: one finding, seven obligations</vt:lpstr>
      <vt:lpstr>PowerPoint Presentation</vt:lpstr>
      <vt:lpstr>Contributions and limitations</vt:lpstr>
      <vt:lpstr>Conclusion</vt:lpstr>
      <vt:lpstr>References</vt:lpstr>
      <vt:lpstr>Declaration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Abiodun</dc:creator>
  <cp:lastModifiedBy>David Abiodun</cp:lastModifiedBy>
  <cp:revision>2</cp:revision>
  <dcterms:created xsi:type="dcterms:W3CDTF">2026-08-05T19:25:31Z</dcterms:created>
  <dcterms:modified xsi:type="dcterms:W3CDTF">2026-08-18T10:54:17Z</dcterms:modified>
</cp:coreProperties>
</file>